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63" r:id="rId4"/>
  </p:sldMasterIdLst>
  <p:notesMasterIdLst>
    <p:notesMasterId r:id="rId21"/>
  </p:notesMasterIdLst>
  <p:handoutMasterIdLst>
    <p:handoutMasterId r:id="rId22"/>
  </p:handoutMasterIdLst>
  <p:sldIdLst>
    <p:sldId id="272" r:id="rId5"/>
    <p:sldId id="274" r:id="rId6"/>
    <p:sldId id="286" r:id="rId7"/>
    <p:sldId id="287" r:id="rId8"/>
    <p:sldId id="283" r:id="rId9"/>
    <p:sldId id="276" r:id="rId10"/>
    <p:sldId id="277" r:id="rId11"/>
    <p:sldId id="278" r:id="rId12"/>
    <p:sldId id="279" r:id="rId13"/>
    <p:sldId id="280" r:id="rId14"/>
    <p:sldId id="281" r:id="rId15"/>
    <p:sldId id="284" r:id="rId16"/>
    <p:sldId id="285" r:id="rId17"/>
    <p:sldId id="282" r:id="rId18"/>
    <p:sldId id="265" r:id="rId19"/>
    <p:sldId id="273" r:id="rId20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Sora Light" panose="020B0604020202020204" charset="0"/>
      <p:regular r:id="rId27"/>
    </p:embeddedFont>
    <p:embeddedFont>
      <p:font typeface="Source Sans Pro" panose="020B0503030403020204" pitchFamily="34" charset="0"/>
      <p:regular r:id="rId28"/>
      <p:bold r:id="rId29"/>
      <p:italic r:id="rId30"/>
      <p:boldItalic r:id="rId31"/>
    </p:embeddedFont>
    <p:embeddedFont>
      <p:font typeface="Source Sans Pro Light" panose="020B0403030403020204" pitchFamily="34" charset="0"/>
      <p:regular r:id="rId32"/>
      <p:italic r:id="rId3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75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3339" userDrawn="1">
          <p15:clr>
            <a:srgbClr val="A4A3A4"/>
          </p15:clr>
        </p15:guide>
        <p15:guide id="5" pos="4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bella Müller" initials="IM" lastIdx="1" clrIdx="0">
    <p:extLst>
      <p:ext uri="{19B8F6BF-5375-455C-9EA6-DF929625EA0E}">
        <p15:presenceInfo xmlns:p15="http://schemas.microsoft.com/office/powerpoint/2012/main" userId="S::isabella.mueller@designhouse.onmicrosoft.de::b056f4bb-1e1f-4597-b3eb-e7e193d4177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E00"/>
    <a:srgbClr val="FFCE00"/>
    <a:srgbClr val="FFC000"/>
    <a:srgbClr val="FF3E4F"/>
    <a:srgbClr val="26164B"/>
    <a:srgbClr val="2862FA"/>
    <a:srgbClr val="0BDA7E"/>
    <a:srgbClr val="0B3427"/>
    <a:srgbClr val="03537A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9885F-A945-436E-B09F-01E58F3E9B8A}" v="7" dt="2026-01-22T13:54:31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69595" autoAdjust="0"/>
  </p:normalViewPr>
  <p:slideViewPr>
    <p:cSldViewPr snapToGrid="0" snapToObjects="1">
      <p:cViewPr varScale="1">
        <p:scale>
          <a:sx n="63" d="100"/>
          <a:sy n="63" d="100"/>
        </p:scale>
        <p:origin x="1170" y="42"/>
      </p:cViewPr>
      <p:guideLst>
        <p:guide pos="6675"/>
        <p:guide orient="horz" pos="459"/>
        <p:guide orient="horz" pos="3339"/>
        <p:guide pos="4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31" d="100"/>
          <a:sy n="131" d="100"/>
        </p:scale>
        <p:origin x="40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microsoft.com/office/2015/10/relationships/revisionInfo" Target="revisionInfo.xml"/><Relationship Id="rId21" Type="http://schemas.openxmlformats.org/officeDocument/2006/relationships/notesMaster" Target="notesMasters/notesMaster1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9B91DE5-1C4B-3041-82D5-99E2E1040E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FB8675-E099-1848-B9BD-142542109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D567E-ED07-534E-A655-1821A0442335}" type="datetimeFigureOut">
              <a:rPr lang="de-DE" smtClean="0"/>
              <a:t>22.01.2026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DF1BF6-6524-DD4F-A1FB-78420D062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5B24BF-7503-C54B-A294-30F41877C9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5FE2F-681D-4941-828A-E3DEC099FEA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6435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86FFA-AEBC-0348-A7F7-448458CBA91D}" type="datetimeFigureOut">
              <a:rPr lang="de-DE" smtClean="0"/>
              <a:t>22.01.2026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1D90A-D2C6-B945-95CF-B20626C808B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25879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planned to stream the drone video using RTMP with Nginx, but it did not work in practice</a:t>
            </a:r>
            <a:endParaRPr lang="tr-TR" dirty="0"/>
          </a:p>
          <a:p>
            <a:r>
              <a:rPr lang="en-US" dirty="0"/>
              <a:t>To avoid blocking the project, we used YouTube streaming instead</a:t>
            </a:r>
            <a:r>
              <a:rPr lang="tr-TR" dirty="0"/>
              <a:t> (</a:t>
            </a:r>
            <a:r>
              <a:rPr lang="tr-TR" dirty="0" err="1"/>
              <a:t>Then</a:t>
            </a:r>
            <a:r>
              <a:rPr lang="tr-TR" dirty="0"/>
              <a:t>, web portal)</a:t>
            </a:r>
          </a:p>
          <a:p>
            <a:r>
              <a:rPr lang="en-US" dirty="0"/>
              <a:t>During the flights, the drone sometimes stopped in the middle of the mission</a:t>
            </a:r>
            <a:endParaRPr lang="tr-TR" dirty="0"/>
          </a:p>
          <a:p>
            <a:r>
              <a:rPr lang="en-US" dirty="0"/>
              <a:t>This happened because the altitude was set too high</a:t>
            </a:r>
            <a:endParaRPr lang="tr-TR" dirty="0"/>
          </a:p>
          <a:p>
            <a:r>
              <a:rPr lang="en-US" dirty="0"/>
              <a:t>Also, the automatic landing was not always reliable</a:t>
            </a:r>
            <a:endParaRPr lang="tr-TR" dirty="0"/>
          </a:p>
          <a:p>
            <a:r>
              <a:rPr lang="en-US" dirty="0"/>
              <a:t>In some situations, the drone could land too close to obstacles like trees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78489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190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, Refe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1AF547E3-AEC0-2444-9AC5-AA77B7F05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9434" y="3038364"/>
            <a:ext cx="2291156" cy="2300228"/>
          </a:xfrm>
          <a:solidFill>
            <a:srgbClr val="0BDA7E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08408C2-F92D-6A4A-B4CD-48353197FD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9433" y="3038364"/>
            <a:ext cx="1530477" cy="1536699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E4D98A3-8CEE-3D4B-BB8C-7C730EA8CE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6588" y="4563228"/>
            <a:ext cx="771525" cy="1536700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Inhaltsplatzhalter 8">
            <a:extLst>
              <a:ext uri="{FF2B5EF4-FFF2-40B4-BE49-F238E27FC236}">
                <a16:creationId xmlns:a16="http://schemas.microsoft.com/office/drawing/2014/main" id="{7E2354F7-4BA9-6D48-AE4F-7ACA9762A67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09365" y="1449944"/>
            <a:ext cx="4877034" cy="1873339"/>
          </a:xfrm>
        </p:spPr>
        <p:txBody>
          <a:bodyPr>
            <a:noAutofit/>
          </a:bodyPr>
          <a:lstStyle>
            <a:lvl1pPr marL="0" indent="0" algn="l">
              <a:buNone/>
              <a:defRPr sz="29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Titel </a:t>
            </a:r>
          </a:p>
          <a:p>
            <a:pPr lvl="0"/>
            <a:r>
              <a:rPr lang="de-DE" dirty="0"/>
              <a:t>des Foliensatzes</a:t>
            </a:r>
          </a:p>
        </p:txBody>
      </p:sp>
      <p:sp>
        <p:nvSpPr>
          <p:cNvPr id="25" name="Inhaltsplatzhalter 8">
            <a:extLst>
              <a:ext uri="{FF2B5EF4-FFF2-40B4-BE49-F238E27FC236}">
                <a16:creationId xmlns:a16="http://schemas.microsoft.com/office/drawing/2014/main" id="{3A02C97D-B9EB-E548-8606-EC85DC19EC4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9365" y="3503484"/>
            <a:ext cx="4877034" cy="1246092"/>
          </a:xfrm>
        </p:spPr>
        <p:txBody>
          <a:bodyPr>
            <a:noAutofit/>
          </a:bodyPr>
          <a:lstStyle>
            <a:lvl1pPr marL="0" indent="0" algn="l">
              <a:buNone/>
              <a:defRPr sz="23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r>
              <a:rPr lang="de-DE" dirty="0"/>
              <a:t>Referentennamen + Semester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DB0E8F8-AC9E-4FB7-BEB8-5D08879D16C1}"/>
              </a:ext>
            </a:extLst>
          </p:cNvPr>
          <p:cNvSpPr/>
          <p:nvPr userDrawn="1"/>
        </p:nvSpPr>
        <p:spPr>
          <a:xfrm>
            <a:off x="6818649" y="0"/>
            <a:ext cx="809463" cy="456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3C802A94-8A82-F341-85E7-1CB3F636A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56588" y="-4618"/>
            <a:ext cx="5335646" cy="6866738"/>
          </a:xfrm>
          <a:custGeom>
            <a:avLst/>
            <a:gdLst>
              <a:gd name="connsiteX0" fmla="*/ 0 w 5373993"/>
              <a:gd name="connsiteY0" fmla="*/ 3429000 h 6858000"/>
              <a:gd name="connsiteX1" fmla="*/ 2235581 w 5373993"/>
              <a:gd name="connsiteY1" fmla="*/ 2 h 6858000"/>
              <a:gd name="connsiteX2" fmla="*/ 3138412 w 5373993"/>
              <a:gd name="connsiteY2" fmla="*/ 2 h 6858000"/>
              <a:gd name="connsiteX3" fmla="*/ 5373993 w 5373993"/>
              <a:gd name="connsiteY3" fmla="*/ 3429000 h 6858000"/>
              <a:gd name="connsiteX4" fmla="*/ 3138412 w 5373993"/>
              <a:gd name="connsiteY4" fmla="*/ 6857998 h 6858000"/>
              <a:gd name="connsiteX5" fmla="*/ 2235581 w 5373993"/>
              <a:gd name="connsiteY5" fmla="*/ 6857998 h 6858000"/>
              <a:gd name="connsiteX6" fmla="*/ 0 w 5373993"/>
              <a:gd name="connsiteY6" fmla="*/ 3429000 h 6858000"/>
              <a:gd name="connsiteX0" fmla="*/ 0 w 5373993"/>
              <a:gd name="connsiteY0" fmla="*/ 3428998 h 6857996"/>
              <a:gd name="connsiteX1" fmla="*/ 2302489 w 5373993"/>
              <a:gd name="connsiteY1" fmla="*/ 11151 h 6857996"/>
              <a:gd name="connsiteX2" fmla="*/ 3138412 w 5373993"/>
              <a:gd name="connsiteY2" fmla="*/ 0 h 6857996"/>
              <a:gd name="connsiteX3" fmla="*/ 5373993 w 5373993"/>
              <a:gd name="connsiteY3" fmla="*/ 3428998 h 6857996"/>
              <a:gd name="connsiteX4" fmla="*/ 3138412 w 5373993"/>
              <a:gd name="connsiteY4" fmla="*/ 6857996 h 6857996"/>
              <a:gd name="connsiteX5" fmla="*/ 2235581 w 5373993"/>
              <a:gd name="connsiteY5" fmla="*/ 6857996 h 6857996"/>
              <a:gd name="connsiteX6" fmla="*/ 0 w 5373993"/>
              <a:gd name="connsiteY6" fmla="*/ 3428998 h 6857996"/>
              <a:gd name="connsiteX0" fmla="*/ 0 w 5390959"/>
              <a:gd name="connsiteY0" fmla="*/ 3440150 h 6869148"/>
              <a:gd name="connsiteX1" fmla="*/ 2302489 w 5390959"/>
              <a:gd name="connsiteY1" fmla="*/ 22303 h 6869148"/>
              <a:gd name="connsiteX2" fmla="*/ 5390959 w 5390959"/>
              <a:gd name="connsiteY2" fmla="*/ 0 h 6869148"/>
              <a:gd name="connsiteX3" fmla="*/ 5373993 w 5390959"/>
              <a:gd name="connsiteY3" fmla="*/ 3440150 h 6869148"/>
              <a:gd name="connsiteX4" fmla="*/ 3138412 w 5390959"/>
              <a:gd name="connsiteY4" fmla="*/ 6869148 h 6869148"/>
              <a:gd name="connsiteX5" fmla="*/ 2235581 w 5390959"/>
              <a:gd name="connsiteY5" fmla="*/ 6869148 h 6869148"/>
              <a:gd name="connsiteX6" fmla="*/ 0 w 5390959"/>
              <a:gd name="connsiteY6" fmla="*/ 3440150 h 6869148"/>
              <a:gd name="connsiteX0" fmla="*/ 0 w 5390959"/>
              <a:gd name="connsiteY0" fmla="*/ 3440150 h 6924904"/>
              <a:gd name="connsiteX1" fmla="*/ 2302489 w 5390959"/>
              <a:gd name="connsiteY1" fmla="*/ 22303 h 6924904"/>
              <a:gd name="connsiteX2" fmla="*/ 5390959 w 5390959"/>
              <a:gd name="connsiteY2" fmla="*/ 0 h 6924904"/>
              <a:gd name="connsiteX3" fmla="*/ 5373993 w 5390959"/>
              <a:gd name="connsiteY3" fmla="*/ 3440150 h 6924904"/>
              <a:gd name="connsiteX4" fmla="*/ 4052812 w 5390959"/>
              <a:gd name="connsiteY4" fmla="*/ 6924904 h 6924904"/>
              <a:gd name="connsiteX5" fmla="*/ 2235581 w 5390959"/>
              <a:gd name="connsiteY5" fmla="*/ 6869148 h 6924904"/>
              <a:gd name="connsiteX6" fmla="*/ 0 w 5390959"/>
              <a:gd name="connsiteY6" fmla="*/ 3440150 h 6924904"/>
              <a:gd name="connsiteX0" fmla="*/ 72721 w 3155378"/>
              <a:gd name="connsiteY0" fmla="*/ 4611028 h 6924904"/>
              <a:gd name="connsiteX1" fmla="*/ 66908 w 3155378"/>
              <a:gd name="connsiteY1" fmla="*/ 22303 h 6924904"/>
              <a:gd name="connsiteX2" fmla="*/ 3155378 w 3155378"/>
              <a:gd name="connsiteY2" fmla="*/ 0 h 6924904"/>
              <a:gd name="connsiteX3" fmla="*/ 3138412 w 3155378"/>
              <a:gd name="connsiteY3" fmla="*/ 3440150 h 6924904"/>
              <a:gd name="connsiteX4" fmla="*/ 1817231 w 3155378"/>
              <a:gd name="connsiteY4" fmla="*/ 6924904 h 6924904"/>
              <a:gd name="connsiteX5" fmla="*/ 0 w 3155378"/>
              <a:gd name="connsiteY5" fmla="*/ 6869148 h 6924904"/>
              <a:gd name="connsiteX6" fmla="*/ 72721 w 3155378"/>
              <a:gd name="connsiteY6" fmla="*/ 4611028 h 6924904"/>
              <a:gd name="connsiteX0" fmla="*/ 2347570 w 5430227"/>
              <a:gd name="connsiteY0" fmla="*/ 4611028 h 6924904"/>
              <a:gd name="connsiteX1" fmla="*/ 2341757 w 5430227"/>
              <a:gd name="connsiteY1" fmla="*/ 22303 h 6924904"/>
              <a:gd name="connsiteX2" fmla="*/ 5430227 w 5430227"/>
              <a:gd name="connsiteY2" fmla="*/ 0 h 6924904"/>
              <a:gd name="connsiteX3" fmla="*/ 5413261 w 5430227"/>
              <a:gd name="connsiteY3" fmla="*/ 3440150 h 6924904"/>
              <a:gd name="connsiteX4" fmla="*/ 4092080 w 5430227"/>
              <a:gd name="connsiteY4" fmla="*/ 6924904 h 6924904"/>
              <a:gd name="connsiteX5" fmla="*/ 0 w 5430227"/>
              <a:gd name="connsiteY5" fmla="*/ 4583148 h 6924904"/>
              <a:gd name="connsiteX6" fmla="*/ 2347570 w 5430227"/>
              <a:gd name="connsiteY6" fmla="*/ 4611028 h 6924904"/>
              <a:gd name="connsiteX0" fmla="*/ 2280663 w 5363320"/>
              <a:gd name="connsiteY0" fmla="*/ 4611028 h 6924904"/>
              <a:gd name="connsiteX1" fmla="*/ 2274850 w 5363320"/>
              <a:gd name="connsiteY1" fmla="*/ 22303 h 6924904"/>
              <a:gd name="connsiteX2" fmla="*/ 5363320 w 5363320"/>
              <a:gd name="connsiteY2" fmla="*/ 0 h 6924904"/>
              <a:gd name="connsiteX3" fmla="*/ 5346354 w 5363320"/>
              <a:gd name="connsiteY3" fmla="*/ 3440150 h 6924904"/>
              <a:gd name="connsiteX4" fmla="*/ 4025173 w 5363320"/>
              <a:gd name="connsiteY4" fmla="*/ 6924904 h 6924904"/>
              <a:gd name="connsiteX5" fmla="*/ 0 w 5363320"/>
              <a:gd name="connsiteY5" fmla="*/ 4583148 h 6924904"/>
              <a:gd name="connsiteX6" fmla="*/ 2280663 w 5363320"/>
              <a:gd name="connsiteY6" fmla="*/ 4611028 h 6924904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3440150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5747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1608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73655"/>
              <a:gd name="connsiteY0" fmla="*/ 4615167 h 6895589"/>
              <a:gd name="connsiteX1" fmla="*/ 2293443 w 5373655"/>
              <a:gd name="connsiteY1" fmla="*/ 5747 h 6895589"/>
              <a:gd name="connsiteX2" fmla="*/ 5373655 w 5373655"/>
              <a:gd name="connsiteY2" fmla="*/ 0 h 6895589"/>
              <a:gd name="connsiteX3" fmla="*/ 5369074 w 5373655"/>
              <a:gd name="connsiteY3" fmla="*/ 6867714 h 6895589"/>
              <a:gd name="connsiteX4" fmla="*/ 0 w 5373655"/>
              <a:gd name="connsiteY4" fmla="*/ 6895589 h 6895589"/>
              <a:gd name="connsiteX5" fmla="*/ 22720 w 5373655"/>
              <a:gd name="connsiteY5" fmla="*/ 4587287 h 6895589"/>
              <a:gd name="connsiteX6" fmla="*/ 2303383 w 5373655"/>
              <a:gd name="connsiteY6" fmla="*/ 4615167 h 6895589"/>
              <a:gd name="connsiteX0" fmla="*/ 2303383 w 5394296"/>
              <a:gd name="connsiteY0" fmla="*/ 4611028 h 6891450"/>
              <a:gd name="connsiteX1" fmla="*/ 2293443 w 5394296"/>
              <a:gd name="connsiteY1" fmla="*/ 1608 h 6891450"/>
              <a:gd name="connsiteX2" fmla="*/ 5394296 w 5394296"/>
              <a:gd name="connsiteY2" fmla="*/ 0 h 6891450"/>
              <a:gd name="connsiteX3" fmla="*/ 5369074 w 5394296"/>
              <a:gd name="connsiteY3" fmla="*/ 6863575 h 6891450"/>
              <a:gd name="connsiteX4" fmla="*/ 0 w 5394296"/>
              <a:gd name="connsiteY4" fmla="*/ 6891450 h 6891450"/>
              <a:gd name="connsiteX5" fmla="*/ 22720 w 5394296"/>
              <a:gd name="connsiteY5" fmla="*/ 4583148 h 6891450"/>
              <a:gd name="connsiteX6" fmla="*/ 2303383 w 5394296"/>
              <a:gd name="connsiteY6" fmla="*/ 4611028 h 6891450"/>
              <a:gd name="connsiteX0" fmla="*/ 2303383 w 5395530"/>
              <a:gd name="connsiteY0" fmla="*/ 4611028 h 6892549"/>
              <a:gd name="connsiteX1" fmla="*/ 2293443 w 5395530"/>
              <a:gd name="connsiteY1" fmla="*/ 1608 h 6892549"/>
              <a:gd name="connsiteX2" fmla="*/ 5394296 w 5395530"/>
              <a:gd name="connsiteY2" fmla="*/ 0 h 6892549"/>
              <a:gd name="connsiteX3" fmla="*/ 5393844 w 5395530"/>
              <a:gd name="connsiteY3" fmla="*/ 6892549 h 6892549"/>
              <a:gd name="connsiteX4" fmla="*/ 0 w 5395530"/>
              <a:gd name="connsiteY4" fmla="*/ 6891450 h 6892549"/>
              <a:gd name="connsiteX5" fmla="*/ 22720 w 5395530"/>
              <a:gd name="connsiteY5" fmla="*/ 4583148 h 6892549"/>
              <a:gd name="connsiteX6" fmla="*/ 2303383 w 5395530"/>
              <a:gd name="connsiteY6" fmla="*/ 4611028 h 6892549"/>
              <a:gd name="connsiteX0" fmla="*/ 2280663 w 5372810"/>
              <a:gd name="connsiteY0" fmla="*/ 4611028 h 6895590"/>
              <a:gd name="connsiteX1" fmla="*/ 2270723 w 5372810"/>
              <a:gd name="connsiteY1" fmla="*/ 1608 h 6895590"/>
              <a:gd name="connsiteX2" fmla="*/ 5371576 w 5372810"/>
              <a:gd name="connsiteY2" fmla="*/ 0 h 6895590"/>
              <a:gd name="connsiteX3" fmla="*/ 5371124 w 5372810"/>
              <a:gd name="connsiteY3" fmla="*/ 6892549 h 6895590"/>
              <a:gd name="connsiteX4" fmla="*/ 26818 w 5372810"/>
              <a:gd name="connsiteY4" fmla="*/ 6895590 h 6895590"/>
              <a:gd name="connsiteX5" fmla="*/ 0 w 5372810"/>
              <a:gd name="connsiteY5" fmla="*/ 4583148 h 6895590"/>
              <a:gd name="connsiteX6" fmla="*/ 2280663 w 5372810"/>
              <a:gd name="connsiteY6" fmla="*/ 4611028 h 6895590"/>
              <a:gd name="connsiteX0" fmla="*/ 2253845 w 5345992"/>
              <a:gd name="connsiteY0" fmla="*/ 4611028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53845 w 5345992"/>
              <a:gd name="connsiteY6" fmla="*/ 4611028 h 6895590"/>
              <a:gd name="connsiteX0" fmla="*/ 2295127 w 5345992"/>
              <a:gd name="connsiteY0" fmla="*/ 4602750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992"/>
              <a:gd name="connsiteY0" fmla="*/ 4602750 h 6895590"/>
              <a:gd name="connsiteX1" fmla="*/ 2289315 w 5345992"/>
              <a:gd name="connsiteY1" fmla="*/ 5747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569"/>
              <a:gd name="connsiteY0" fmla="*/ 4602750 h 6895590"/>
              <a:gd name="connsiteX1" fmla="*/ 2289315 w 5345569"/>
              <a:gd name="connsiteY1" fmla="*/ 5747 h 6895590"/>
              <a:gd name="connsiteX2" fmla="*/ 5340130 w 5345569"/>
              <a:gd name="connsiteY2" fmla="*/ 0 h 6895590"/>
              <a:gd name="connsiteX3" fmla="*/ 5344306 w 5345569"/>
              <a:gd name="connsiteY3" fmla="*/ 6892549 h 6895590"/>
              <a:gd name="connsiteX4" fmla="*/ 0 w 5345569"/>
              <a:gd name="connsiteY4" fmla="*/ 6895590 h 6895590"/>
              <a:gd name="connsiteX5" fmla="*/ 6208 w 5345569"/>
              <a:gd name="connsiteY5" fmla="*/ 4591426 h 6895590"/>
              <a:gd name="connsiteX6" fmla="*/ 2295127 w 5345569"/>
              <a:gd name="connsiteY6" fmla="*/ 4602750 h 6895590"/>
              <a:gd name="connsiteX0" fmla="*/ 2295127 w 5344413"/>
              <a:gd name="connsiteY0" fmla="*/ 4597003 h 6889843"/>
              <a:gd name="connsiteX1" fmla="*/ 2289315 w 5344413"/>
              <a:gd name="connsiteY1" fmla="*/ 0 h 6889843"/>
              <a:gd name="connsiteX2" fmla="*/ 5136474 w 5344413"/>
              <a:gd name="connsiteY2" fmla="*/ 100989 h 6889843"/>
              <a:gd name="connsiteX3" fmla="*/ 5344306 w 5344413"/>
              <a:gd name="connsiteY3" fmla="*/ 6886802 h 6889843"/>
              <a:gd name="connsiteX4" fmla="*/ 0 w 5344413"/>
              <a:gd name="connsiteY4" fmla="*/ 6889843 h 6889843"/>
              <a:gd name="connsiteX5" fmla="*/ 6208 w 5344413"/>
              <a:gd name="connsiteY5" fmla="*/ 4585679 h 6889843"/>
              <a:gd name="connsiteX6" fmla="*/ 2295127 w 5344413"/>
              <a:gd name="connsiteY6" fmla="*/ 4597003 h 6889843"/>
              <a:gd name="connsiteX0" fmla="*/ 2295127 w 5344873"/>
              <a:gd name="connsiteY0" fmla="*/ 4598109 h 6890949"/>
              <a:gd name="connsiteX1" fmla="*/ 2289315 w 5344873"/>
              <a:gd name="connsiteY1" fmla="*/ 1106 h 6890949"/>
              <a:gd name="connsiteX2" fmla="*/ 5316987 w 5344873"/>
              <a:gd name="connsiteY2" fmla="*/ 0 h 6890949"/>
              <a:gd name="connsiteX3" fmla="*/ 5344306 w 5344873"/>
              <a:gd name="connsiteY3" fmla="*/ 6887908 h 6890949"/>
              <a:gd name="connsiteX4" fmla="*/ 0 w 5344873"/>
              <a:gd name="connsiteY4" fmla="*/ 6890949 h 6890949"/>
              <a:gd name="connsiteX5" fmla="*/ 6208 w 5344873"/>
              <a:gd name="connsiteY5" fmla="*/ 4586785 h 6890949"/>
              <a:gd name="connsiteX6" fmla="*/ 2295127 w 5344873"/>
              <a:gd name="connsiteY6" fmla="*/ 4598109 h 6890949"/>
              <a:gd name="connsiteX0" fmla="*/ 2295127 w 5345319"/>
              <a:gd name="connsiteY0" fmla="*/ 4607390 h 6900230"/>
              <a:gd name="connsiteX1" fmla="*/ 2289315 w 5345319"/>
              <a:gd name="connsiteY1" fmla="*/ 10387 h 6900230"/>
              <a:gd name="connsiteX2" fmla="*/ 5335502 w 5345319"/>
              <a:gd name="connsiteY2" fmla="*/ 0 h 6900230"/>
              <a:gd name="connsiteX3" fmla="*/ 5344306 w 5345319"/>
              <a:gd name="connsiteY3" fmla="*/ 6897189 h 6900230"/>
              <a:gd name="connsiteX4" fmla="*/ 0 w 5345319"/>
              <a:gd name="connsiteY4" fmla="*/ 6900230 h 6900230"/>
              <a:gd name="connsiteX5" fmla="*/ 6208 w 5345319"/>
              <a:gd name="connsiteY5" fmla="*/ 4596066 h 6900230"/>
              <a:gd name="connsiteX6" fmla="*/ 2295127 w 5345319"/>
              <a:gd name="connsiteY6" fmla="*/ 4607390 h 6900230"/>
              <a:gd name="connsiteX0" fmla="*/ 2295127 w 5336735"/>
              <a:gd name="connsiteY0" fmla="*/ 4607390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7390 h 6900230"/>
              <a:gd name="connsiteX0" fmla="*/ 2295127 w 5336735"/>
              <a:gd name="connsiteY0" fmla="*/ 4602994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2994 h 6900230"/>
              <a:gd name="connsiteX0" fmla="*/ 2295127 w 5336735"/>
              <a:gd name="connsiteY0" fmla="*/ 4591363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0319 h 6909186"/>
              <a:gd name="connsiteX1" fmla="*/ 2289315 w 5336735"/>
              <a:gd name="connsiteY1" fmla="*/ 0 h 6909186"/>
              <a:gd name="connsiteX2" fmla="*/ 5335502 w 5336735"/>
              <a:gd name="connsiteY2" fmla="*/ 8956 h 6909186"/>
              <a:gd name="connsiteX3" fmla="*/ 5335049 w 5336735"/>
              <a:gd name="connsiteY3" fmla="*/ 6906145 h 6909186"/>
              <a:gd name="connsiteX4" fmla="*/ 0 w 5336735"/>
              <a:gd name="connsiteY4" fmla="*/ 6909186 h 6909186"/>
              <a:gd name="connsiteX5" fmla="*/ 6208 w 5336735"/>
              <a:gd name="connsiteY5" fmla="*/ 4605022 h 6909186"/>
              <a:gd name="connsiteX6" fmla="*/ 2295127 w 5336735"/>
              <a:gd name="connsiteY6" fmla="*/ 4600319 h 6909186"/>
              <a:gd name="connsiteX0" fmla="*/ 2295127 w 5336735"/>
              <a:gd name="connsiteY0" fmla="*/ 4591363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590647 h 6889841"/>
              <a:gd name="connsiteX1" fmla="*/ 2308570 w 5336735"/>
              <a:gd name="connsiteY1" fmla="*/ 0 h 6889841"/>
              <a:gd name="connsiteX2" fmla="*/ 5335503 w 5336735"/>
              <a:gd name="connsiteY2" fmla="*/ 134694 h 6889841"/>
              <a:gd name="connsiteX3" fmla="*/ 5335049 w 5336735"/>
              <a:gd name="connsiteY3" fmla="*/ 6886800 h 6889841"/>
              <a:gd name="connsiteX4" fmla="*/ 0 w 5336735"/>
              <a:gd name="connsiteY4" fmla="*/ 6889841 h 6889841"/>
              <a:gd name="connsiteX5" fmla="*/ 6208 w 5336735"/>
              <a:gd name="connsiteY5" fmla="*/ 4585677 h 6889841"/>
              <a:gd name="connsiteX6" fmla="*/ 2295127 w 5336735"/>
              <a:gd name="connsiteY6" fmla="*/ 4590647 h 6889841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4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6735" h="6900230">
                <a:moveTo>
                  <a:pt x="2295127" y="4601036"/>
                </a:moveTo>
                <a:cubicBezTo>
                  <a:pt x="2293189" y="3071461"/>
                  <a:pt x="2310508" y="1539964"/>
                  <a:pt x="2308570" y="10389"/>
                </a:cubicBezTo>
                <a:lnTo>
                  <a:pt x="5335504" y="0"/>
                </a:lnTo>
                <a:cubicBezTo>
                  <a:pt x="5329849" y="1146717"/>
                  <a:pt x="5340704" y="5750472"/>
                  <a:pt x="5335049" y="6897189"/>
                </a:cubicBezTo>
                <a:lnTo>
                  <a:pt x="0" y="6900230"/>
                </a:lnTo>
                <a:cubicBezTo>
                  <a:pt x="2069" y="6132175"/>
                  <a:pt x="4139" y="5364121"/>
                  <a:pt x="6208" y="4596066"/>
                </a:cubicBezTo>
                <a:lnTo>
                  <a:pt x="2295127" y="4601036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 algn="l">
              <a:buNone/>
              <a:defRPr sz="1800" b="0" i="0">
                <a:noFill/>
                <a:latin typeface="Sora Light" pitchFamily="2" charset="0"/>
                <a:cs typeface="Sora Light" pitchFamily="2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3562" y="4857000"/>
            <a:ext cx="2602245" cy="15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5768" userDrawn="1">
          <p15:clr>
            <a:srgbClr val="FBAE40"/>
          </p15:clr>
        </p15:guide>
        <p15:guide id="3" pos="431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3">
            <a:extLst>
              <a:ext uri="{FF2B5EF4-FFF2-40B4-BE49-F238E27FC236}">
                <a16:creationId xmlns:a16="http://schemas.microsoft.com/office/drawing/2014/main" id="{2E50851B-403E-C749-A02A-7FA2283965D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551" y="13493"/>
            <a:ext cx="3811561" cy="683989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0283A50F-195A-A94C-BBE2-7AAF02F1670F}"/>
              </a:ext>
            </a:extLst>
          </p:cNvPr>
          <p:cNvSpPr txBox="1">
            <a:spLocks/>
          </p:cNvSpPr>
          <p:nvPr userDrawn="1"/>
        </p:nvSpPr>
        <p:spPr>
          <a:xfrm>
            <a:off x="1543241" y="1222188"/>
            <a:ext cx="4699520" cy="334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00" b="0" i="0" kern="1200" spc="60" baseline="0">
                <a:solidFill>
                  <a:schemeClr val="tx1"/>
                </a:solidFill>
                <a:latin typeface="Sora Light" pitchFamily="2" charset="0"/>
                <a:ea typeface="+mj-ea"/>
                <a:cs typeface="Sora Light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94E19F8-6CCE-FD40-A910-7D2E22167170}"/>
              </a:ext>
            </a:extLst>
          </p:cNvPr>
          <p:cNvSpPr/>
          <p:nvPr userDrawn="1"/>
        </p:nvSpPr>
        <p:spPr>
          <a:xfrm>
            <a:off x="6185799" y="2953413"/>
            <a:ext cx="1650274" cy="3054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8EDB45C-06E3-F341-A580-69B76D177A2D}"/>
              </a:ext>
            </a:extLst>
          </p:cNvPr>
          <p:cNvSpPr/>
          <p:nvPr userDrawn="1"/>
        </p:nvSpPr>
        <p:spPr>
          <a:xfrm>
            <a:off x="3829560" y="867909"/>
            <a:ext cx="383796" cy="378362"/>
          </a:xfrm>
          <a:prstGeom prst="rect">
            <a:avLst/>
          </a:prstGeom>
          <a:solidFill>
            <a:srgbClr val="271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7F16557-9BCA-8A49-8ED3-3B7A012AD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1911" y="0"/>
            <a:ext cx="722205" cy="1246268"/>
          </a:xfrm>
          <a:solidFill>
            <a:srgbClr val="2862F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BC7C988-BEEE-9647-8169-C69880E1F0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94" y="861971"/>
            <a:ext cx="390162" cy="756720"/>
          </a:xfrm>
          <a:solidFill>
            <a:srgbClr val="FF3E4F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86EAFCF-A086-E14E-BBE6-32DA63483F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04841" y="1240448"/>
            <a:ext cx="383796" cy="378362"/>
          </a:xfrm>
          <a:solidFill>
            <a:srgbClr val="FF3E4F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8" name="Textplatzhalter 17">
            <a:extLst>
              <a:ext uri="{FF2B5EF4-FFF2-40B4-BE49-F238E27FC236}">
                <a16:creationId xmlns:a16="http://schemas.microsoft.com/office/drawing/2014/main" id="{FB81114C-DB45-B044-97EA-4885B8682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04841" y="861971"/>
            <a:ext cx="383796" cy="378362"/>
          </a:xfrm>
          <a:solidFill>
            <a:srgbClr val="27164B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9" name="Inhaltsplatzhalter 8">
            <a:extLst>
              <a:ext uri="{FF2B5EF4-FFF2-40B4-BE49-F238E27FC236}">
                <a16:creationId xmlns:a16="http://schemas.microsoft.com/office/drawing/2014/main" id="{76E6B588-D214-0945-A7C6-FCF46EE95EC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66092" y="1548164"/>
            <a:ext cx="7391719" cy="447342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41" name="Inhaltsplatzhalter 8">
            <a:extLst>
              <a:ext uri="{FF2B5EF4-FFF2-40B4-BE49-F238E27FC236}">
                <a16:creationId xmlns:a16="http://schemas.microsoft.com/office/drawing/2014/main" id="{AEBF9B3B-3040-3142-A832-A90CF755F837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185058" y="340784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5B79B535-3595-0949-A5E3-01A65009AA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44" name="Tabellenplatzhalter 2">
            <a:extLst>
              <a:ext uri="{FF2B5EF4-FFF2-40B4-BE49-F238E27FC236}">
                <a16:creationId xmlns:a16="http://schemas.microsoft.com/office/drawing/2014/main" id="{3A00E332-B880-3444-946E-E3AFCE072C2C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4403725" y="2321482"/>
            <a:ext cx="7324524" cy="3826408"/>
          </a:xfrm>
          <a:noFill/>
        </p:spPr>
        <p:txBody>
          <a:bodyPr>
            <a:normAutofit/>
          </a:bodyPr>
          <a:lstStyle>
            <a:lvl1pPr marL="0" indent="0">
              <a:buFont typeface="Symbol" panose="05050102010706020507" pitchFamily="18" charset="2"/>
              <a:buNone/>
              <a:defRPr sz="1500" baseline="0"/>
            </a:lvl1pPr>
          </a:lstStyle>
          <a:p>
            <a:r>
              <a:rPr lang="de-DE" dirty="0"/>
              <a:t>Tabelle mit Agenda</a:t>
            </a:r>
          </a:p>
        </p:txBody>
      </p:sp>
    </p:spTree>
    <p:extLst>
      <p:ext uri="{BB962C8B-B14F-4D97-AF65-F5344CB8AC3E}">
        <p14:creationId xmlns:p14="http://schemas.microsoft.com/office/powerpoint/2010/main" val="47531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7" userDrawn="1">
          <p15:clr>
            <a:srgbClr val="FBAE40"/>
          </p15:clr>
        </p15:guide>
        <p15:guide id="2" pos="2774" userDrawn="1">
          <p15:clr>
            <a:srgbClr val="FBAE40"/>
          </p15:clr>
        </p15:guide>
        <p15:guide id="3" pos="238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lesungsseit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1422" y="6056140"/>
            <a:ext cx="559752" cy="564668"/>
          </a:xfrm>
          <a:prstGeom prst="rect">
            <a:avLst/>
          </a:prstGeom>
        </p:spPr>
      </p:pic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182473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mit 1-2 Zeilen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675880" y="784868"/>
            <a:ext cx="8040688" cy="366479"/>
          </a:xfrm>
        </p:spPr>
        <p:txBody>
          <a:bodyPr anchor="b"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/>
              <a:t>Hier steht eine Unterüberschrift</a:t>
            </a:r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49" y="225117"/>
            <a:ext cx="858756" cy="5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7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142" userDrawn="1">
          <p15:clr>
            <a:srgbClr val="FBAE40"/>
          </p15:clr>
        </p15:guide>
        <p15:guide id="4" pos="574" userDrawn="1">
          <p15:clr>
            <a:srgbClr val="FBAE40"/>
          </p15:clr>
        </p15:guide>
        <p15:guide id="5" pos="111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rlesungsseite nur Überschrif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1422" y="6056140"/>
            <a:ext cx="559752" cy="564668"/>
          </a:xfrm>
          <a:prstGeom prst="rect">
            <a:avLst/>
          </a:prstGeom>
        </p:spPr>
      </p:pic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182473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mit 1-2 Zeilen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675880" y="784868"/>
            <a:ext cx="8040688" cy="366479"/>
          </a:xfrm>
        </p:spPr>
        <p:txBody>
          <a:bodyPr anchor="b"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/>
              <a:t>Hier steht eine Unterüberschrift</a:t>
            </a:r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49" y="225117"/>
            <a:ext cx="858756" cy="536723"/>
          </a:xfrm>
          <a:prstGeom prst="rect">
            <a:avLst/>
          </a:prstGeom>
        </p:spPr>
      </p:pic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2DC125E4-C573-774D-BCD0-493116443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88156" y="1413577"/>
            <a:ext cx="7928411" cy="425580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9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>
          <p15:clr>
            <a:srgbClr val="FBAE40"/>
          </p15:clr>
        </p15:guide>
        <p15:guide id="2" pos="7401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574">
          <p15:clr>
            <a:srgbClr val="FBAE40"/>
          </p15:clr>
        </p15:guide>
        <p15:guide id="5" pos="111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/ Aufzählung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9FE0B974-53B1-B64B-ABF5-B8B8D78379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16479" y="11875"/>
            <a:ext cx="4575521" cy="683989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EC0E6377-F81B-2A4E-B17C-2EE8EEE17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C9C5EDA-DECB-6B42-BCA2-9CDA679DB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11979" y="6091154"/>
            <a:ext cx="771525" cy="757469"/>
          </a:xfrm>
          <a:solidFill>
            <a:srgbClr val="2862FA">
              <a:alpha val="5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1D9ED83-BC93-CB47-AEA5-BC0614309F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8738" y="6093650"/>
            <a:ext cx="766762" cy="752475"/>
          </a:xfrm>
          <a:solidFill>
            <a:srgbClr val="2862F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903A7139-BDE2-554B-B6FC-05DCA7555D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74336" y="6184857"/>
            <a:ext cx="1779419" cy="179368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CA060C0F-B152-6B4D-AE4E-3B6BED8A614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60576" y="1146241"/>
            <a:ext cx="5549914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897CF64C-58AB-7B4B-8A29-C5D732F931D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01928" y="2566988"/>
            <a:ext cx="5808561" cy="2772655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r>
              <a:rPr lang="de-DE" dirty="0" err="1"/>
              <a:t>Bulletpoint</a:t>
            </a:r>
            <a:endParaRPr lang="de-DE" dirty="0"/>
          </a:p>
          <a:p>
            <a:r>
              <a:rPr lang="de-DE" dirty="0" err="1"/>
              <a:t>Bulletpoint</a:t>
            </a:r>
            <a:endParaRPr lang="de-DE" dirty="0"/>
          </a:p>
          <a:p>
            <a:r>
              <a:rPr lang="de-DE" dirty="0" err="1"/>
              <a:t>Bulletpoint</a:t>
            </a:r>
            <a:endParaRPr lang="de-DE" dirty="0"/>
          </a:p>
          <a:p>
            <a:r>
              <a:rPr lang="de-DE" dirty="0" err="1"/>
              <a:t>Bulletpoint</a:t>
            </a:r>
            <a:endParaRPr lang="de-DE" dirty="0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196DE315-F78E-6944-8E11-1E4711473C9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39245" y="359072"/>
            <a:ext cx="1133476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6174F17-9F4C-B14F-82A4-AEBF5A8310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6950" y="225117"/>
            <a:ext cx="256293" cy="256293"/>
          </a:xfrm>
          <a:prstGeom prst="rect">
            <a:avLst/>
          </a:prstGeom>
        </p:spPr>
      </p:pic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99C06FC0-938B-0A43-8539-DFAD9085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66" y="6422599"/>
            <a:ext cx="419314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4620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302" userDrawn="1">
          <p15:clr>
            <a:srgbClr val="FBAE40"/>
          </p15:clr>
        </p15:guide>
        <p15:guide id="3" pos="4793" userDrawn="1">
          <p15:clr>
            <a:srgbClr val="FBAE40"/>
          </p15:clr>
        </p15:guide>
        <p15:guide id="4" pos="4543" userDrawn="1">
          <p15:clr>
            <a:srgbClr val="FBAE40"/>
          </p15:clr>
        </p15:guide>
        <p15:guide id="5" pos="55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C125E4-C573-774D-BCD0-493116443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73953" y="1589518"/>
            <a:ext cx="4930028" cy="425580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98EC1E2-1652-C943-BA94-7BFA3981A3E1}"/>
              </a:ext>
            </a:extLst>
          </p:cNvPr>
          <p:cNvSpPr/>
          <p:nvPr userDrawn="1"/>
        </p:nvSpPr>
        <p:spPr>
          <a:xfrm>
            <a:off x="788019" y="0"/>
            <a:ext cx="754062" cy="2317537"/>
          </a:xfrm>
          <a:prstGeom prst="rect">
            <a:avLst/>
          </a:prstGeom>
          <a:solidFill>
            <a:srgbClr val="FECE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CD47D0D2-C858-CF46-8B21-DC7BE9E38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7" name="Foliennummernplatzhalter 5">
            <a:extLst>
              <a:ext uri="{FF2B5EF4-FFF2-40B4-BE49-F238E27FC236}">
                <a16:creationId xmlns:a16="http://schemas.microsoft.com/office/drawing/2014/main" id="{99C06FC0-938B-0A43-8539-DFAD9085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290" y="6422599"/>
            <a:ext cx="419314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8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E6ABD1F-0023-B24B-8995-C6C0BDC3F0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399" y="0"/>
            <a:ext cx="754061" cy="2317750"/>
          </a:xfrm>
          <a:solidFill>
            <a:srgbClr val="FECE0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196DE315-F78E-6944-8E11-1E4711473C9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40784"/>
            <a:ext cx="1133476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7E4E0D5B-8738-A449-ABBD-03C33744561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391" y="1012677"/>
            <a:ext cx="3693613" cy="1037536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6A158C27-05E2-E644-8AB6-72C4E8A196D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391" y="2242461"/>
            <a:ext cx="3500820" cy="360286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6174F17-9F4C-B14F-82A4-AEBF5A8310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5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1003" userDrawn="1">
          <p15:clr>
            <a:srgbClr val="FBAE40"/>
          </p15:clr>
        </p15:guide>
        <p15:guide id="4" orient="horz" pos="3680" userDrawn="1">
          <p15:clr>
            <a:srgbClr val="FBAE40"/>
          </p15:clr>
        </p15:guide>
        <p15:guide id="5" pos="4067" userDrawn="1">
          <p15:clr>
            <a:srgbClr val="FBAE40"/>
          </p15:clr>
        </p15:guide>
        <p15:guide id="6" pos="7197" userDrawn="1">
          <p15:clr>
            <a:srgbClr val="FBAE40"/>
          </p15:clr>
        </p15:guide>
        <p15:guide id="7" pos="1209" userDrawn="1">
          <p15:clr>
            <a:srgbClr val="FBAE40"/>
          </p15:clr>
        </p15:guide>
        <p15:guide id="8" pos="3364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A5B84731-564C-4E40-8C85-80BE04DF4E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2884" y="740455"/>
            <a:ext cx="3825569" cy="537954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4F4D74E-6E4B-6343-8017-37C114F69B64}"/>
              </a:ext>
            </a:extLst>
          </p:cNvPr>
          <p:cNvGrpSpPr/>
          <p:nvPr userDrawn="1"/>
        </p:nvGrpSpPr>
        <p:grpSpPr>
          <a:xfrm rot="5400000">
            <a:off x="3817172" y="343924"/>
            <a:ext cx="1167409" cy="1175159"/>
            <a:chOff x="6885332" y="3079760"/>
            <a:chExt cx="2293710" cy="2308937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19DEC32-D4FD-BB40-9C2D-BBF02AF1E9CF}"/>
                </a:ext>
              </a:extLst>
            </p:cNvPr>
            <p:cNvSpPr/>
            <p:nvPr userDrawn="1"/>
          </p:nvSpPr>
          <p:spPr>
            <a:xfrm>
              <a:off x="6885332" y="3079760"/>
              <a:ext cx="1507766" cy="1527052"/>
            </a:xfrm>
            <a:prstGeom prst="rect">
              <a:avLst/>
            </a:prstGeom>
            <a:solidFill>
              <a:srgbClr val="0BD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DBB9271-0C4C-A24A-A1FC-FA028FCA8451}"/>
                </a:ext>
              </a:extLst>
            </p:cNvPr>
            <p:cNvSpPr/>
            <p:nvPr userDrawn="1"/>
          </p:nvSpPr>
          <p:spPr>
            <a:xfrm>
              <a:off x="7641266" y="3861649"/>
              <a:ext cx="1537776" cy="1527048"/>
            </a:xfrm>
            <a:prstGeom prst="rect">
              <a:avLst/>
            </a:prstGeom>
            <a:solidFill>
              <a:srgbClr val="2862F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394B7C-941F-FD41-9073-E47435DEC0FE}"/>
                </a:ext>
              </a:extLst>
            </p:cNvPr>
            <p:cNvSpPr/>
            <p:nvPr userDrawn="1"/>
          </p:nvSpPr>
          <p:spPr>
            <a:xfrm>
              <a:off x="7641655" y="3850738"/>
              <a:ext cx="756840" cy="765485"/>
            </a:xfrm>
            <a:prstGeom prst="rect">
              <a:avLst/>
            </a:prstGeom>
            <a:solidFill>
              <a:srgbClr val="035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E06F95A6-BE5D-314A-B6AF-DC496CF0B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884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9292CEF1-8BEA-B54E-92C6-37E846A43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83DCBBA-AD56-3C44-BE26-E4ED81C239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07466" y="738000"/>
            <a:ext cx="782669" cy="777208"/>
          </a:xfrm>
          <a:solidFill>
            <a:srgbClr val="2862FA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57BA036-5F21-8642-B23F-C9BB9E555D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3104" y="345052"/>
            <a:ext cx="770142" cy="769382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B147355-BB9F-A844-B88F-ADA98E03B0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104" y="732540"/>
            <a:ext cx="384609" cy="381894"/>
          </a:xfrm>
          <a:solidFill>
            <a:srgbClr val="03537A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99BD9DF6-C6C4-C444-B17C-197246D6399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1" y="340783"/>
            <a:ext cx="1167410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40EA8ABD-EC1B-C24B-B54A-8571ED25841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796501" y="1156041"/>
            <a:ext cx="5940102" cy="109571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C6B96A56-7C2C-5045-82C5-2EA8BBA5E7D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796500" y="2509224"/>
            <a:ext cx="5940101" cy="360286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B4266BE-B5CB-6A43-A0CA-F31BE280D9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92970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pos="483" userDrawn="1">
          <p15:clr>
            <a:srgbClr val="FBAE40"/>
          </p15:clr>
        </p15:guide>
        <p15:guide id="4" pos="2887" userDrawn="1">
          <p15:clr>
            <a:srgbClr val="FBAE40"/>
          </p15:clr>
        </p15:guide>
        <p15:guide id="5" orient="horz" pos="459" userDrawn="1">
          <p15:clr>
            <a:srgbClr val="FBAE40"/>
          </p15:clr>
        </p15:guide>
        <p15:guide id="6" orient="horz" pos="3861" userDrawn="1">
          <p15:clr>
            <a:srgbClr val="FBAE40"/>
          </p15:clr>
        </p15:guide>
        <p15:guide id="7" pos="36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zwei eigen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8ACC2840-AAFB-A345-8071-B6FA50D92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7BDD13FD-AA3F-6D48-95A6-D372357D8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07D0E153-F85B-F74B-AE4B-449053AC08D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40782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A1074025-6F73-7844-8B0B-5C4A10034AF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796501" y="1006416"/>
            <a:ext cx="5940102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</a:t>
            </a:r>
            <a:br>
              <a:rPr lang="de-DE" dirty="0"/>
            </a:br>
            <a:r>
              <a:rPr lang="de-DE" dirty="0"/>
              <a:t>eine Überschrift</a:t>
            </a:r>
            <a:br>
              <a:rPr lang="de-DE" dirty="0"/>
            </a:br>
            <a:endParaRPr lang="de-DE" dirty="0"/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70B562F9-A5D0-D740-8C1E-2BF5FC07E6D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796500" y="2511588"/>
            <a:ext cx="5940102" cy="3514494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165078AA-C024-2F4E-8AD3-E49F792994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69214" y="740456"/>
            <a:ext cx="3715603" cy="243847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92787160-59B0-504A-A54D-B17E0DB16A0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213" y="3576237"/>
            <a:ext cx="3715603" cy="243847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2228374A-A5EF-F148-BC95-108DB04227D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58115" y="3192329"/>
            <a:ext cx="1511012" cy="190937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37E0D428-8F70-2348-8FB2-1481E716457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58115" y="6026081"/>
            <a:ext cx="1511012" cy="190937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3957D8A-FCAE-3444-9CDA-B80EFAD91F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389574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pos="619" userDrawn="1">
          <p15:clr>
            <a:srgbClr val="FBAE40"/>
          </p15:clr>
        </p15:guide>
        <p15:guide id="4" pos="2955" userDrawn="1">
          <p15:clr>
            <a:srgbClr val="FBAE40"/>
          </p15:clr>
        </p15:guide>
        <p15:guide id="5" orient="horz" pos="2251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2001" userDrawn="1">
          <p15:clr>
            <a:srgbClr val="FBAE40"/>
          </p15:clr>
        </p15:guide>
        <p15:guide id="8" orient="horz" pos="459" userDrawn="1">
          <p15:clr>
            <a:srgbClr val="FBAE40"/>
          </p15:clr>
        </p15:guide>
        <p15:guide id="9" pos="3659" userDrawn="1">
          <p15:clr>
            <a:srgbClr val="FBAE40"/>
          </p15:clr>
        </p15:guide>
        <p15:guide id="10" orient="horz" pos="1570" userDrawn="1">
          <p15:clr>
            <a:srgbClr val="FBAE40"/>
          </p15:clr>
        </p15:guide>
        <p15:guide id="11" orient="horz" pos="1321" userDrawn="1">
          <p15:clr>
            <a:srgbClr val="FBAE40"/>
          </p15:clr>
        </p15:guide>
        <p15:guide id="12" orient="horz" pos="61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8696D52F-CD9C-9B45-B665-864DEF31CD1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942" y="1145312"/>
            <a:ext cx="6599887" cy="109366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24E29390-F4D0-464E-8E82-B3939C427C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391" y="2496571"/>
            <a:ext cx="4390840" cy="3578127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1B510F92-97E3-074B-8A25-C7D3647032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014972" y="2483328"/>
            <a:ext cx="4390840" cy="3591369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A5EF95E-A525-9449-A672-A54A17689B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28663"/>
            <a:ext cx="11557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04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197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pos="1164" userDrawn="1">
          <p15:clr>
            <a:srgbClr val="FBAE40"/>
          </p15:clr>
        </p15:guide>
        <p15:guide id="6" pos="3931" userDrawn="1">
          <p15:clr>
            <a:srgbClr val="FBAE40"/>
          </p15:clr>
        </p15:guide>
        <p15:guide id="7" pos="4407" userDrawn="1">
          <p15:clr>
            <a:srgbClr val="FBAE40"/>
          </p15:clr>
        </p15:guide>
        <p15:guide id="8" pos="5314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orient="horz" pos="70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B925DA-07EF-FA4D-9E43-18678217A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C5D0DAD7-7019-F140-A8FF-08598F2FB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2" name="Inhaltsplatzhalter 5">
            <a:extLst>
              <a:ext uri="{FF2B5EF4-FFF2-40B4-BE49-F238E27FC236}">
                <a16:creationId xmlns:a16="http://schemas.microsoft.com/office/drawing/2014/main" id="{4F9AEE48-6404-4740-8376-B369CF861D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5A14BCBC-55F9-994D-AEF7-EF91C6D36C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40782"/>
            <a:ext cx="1168400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FF9ADD8F-126C-6741-A906-FDA1C53EBC9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200" y="1148267"/>
            <a:ext cx="9037320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0EEC36BB-9F2F-C04B-A0BC-076C3458428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55221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00C9488F-4B73-4445-8CDB-06A1C5CE6AB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145477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30295F24-0F96-FF4E-89EF-F431CE7A73B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452755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C660FDD-60A9-564F-B502-CFC330BA2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5092" y="2979974"/>
            <a:ext cx="1136908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69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pos="529" userDrawn="1">
          <p15:clr>
            <a:srgbClr val="FBAE40"/>
          </p15:clr>
        </p15:guide>
        <p15:guide id="4" pos="2502" userDrawn="1">
          <p15:clr>
            <a:srgbClr val="FBAE40"/>
          </p15:clr>
        </p15:guide>
        <p15:guide id="5" pos="2615" userDrawn="1">
          <p15:clr>
            <a:srgbClr val="FBAE40"/>
          </p15:clr>
        </p15:guide>
        <p15:guide id="6" orient="horz" pos="1570" userDrawn="1">
          <p15:clr>
            <a:srgbClr val="FBAE40"/>
          </p15:clr>
        </p15:guide>
        <p15:guide id="7" pos="4566" userDrawn="1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pos="6652" userDrawn="1">
          <p15:clr>
            <a:srgbClr val="FBAE40"/>
          </p15:clr>
        </p15:guide>
        <p15:guide id="11" orient="horz" pos="386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6F08711E-CE42-174E-9604-16CB1F43DD3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43194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D2C52199-3B71-C14A-A6B5-0E1CDFA3FDF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942" y="893934"/>
            <a:ext cx="6599887" cy="851835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A57FE56B-CDEF-8D42-941F-D2955586DA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941" y="1845892"/>
            <a:ext cx="4390841" cy="4345602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6D12DAB6-7667-7E42-99E3-F10E1643870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014971" y="1845892"/>
            <a:ext cx="4390841" cy="4345602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2801766-2D07-9149-8E58-E99EF689AD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1488"/>
            <a:ext cx="1136908" cy="1155700"/>
          </a:xfrm>
          <a:prstGeom prst="rect">
            <a:avLst/>
          </a:prstGeom>
        </p:spPr>
      </p:pic>
      <p:sp>
        <p:nvSpPr>
          <p:cNvPr id="15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101908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3906" userDrawn="1">
          <p15:clr>
            <a:srgbClr val="FBAE40"/>
          </p15:clr>
        </p15:guide>
        <p15:guide id="4" pos="1164" userDrawn="1">
          <p15:clr>
            <a:srgbClr val="FBAE40"/>
          </p15:clr>
        </p15:guide>
        <p15:guide id="5" pos="3931" userDrawn="1">
          <p15:clr>
            <a:srgbClr val="FBAE40"/>
          </p15:clr>
        </p15:guide>
        <p15:guide id="6" pos="4407" userDrawn="1">
          <p15:clr>
            <a:srgbClr val="FBAE40"/>
          </p15:clr>
        </p15:guide>
        <p15:guide id="7" pos="7197" userDrawn="1">
          <p15:clr>
            <a:srgbClr val="FBAE40"/>
          </p15:clr>
        </p15:guide>
        <p15:guide id="8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ohne Schmuckelemen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F6EB9EC4-BA91-B042-9D21-35CF4E9D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C558353-2FA0-AC49-B844-918DDF186B7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53354"/>
            <a:ext cx="1169988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A0499E9E-7042-4A42-9C85-65E22829BC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42117" y="1251957"/>
            <a:ext cx="3144058" cy="1003563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 Überschrift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3A2BAE97-0BA6-F54F-8C81-04EA744BF7C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3686175" y="786030"/>
            <a:ext cx="8050428" cy="546395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8E6E2C0-7B3C-E848-AE28-60CA46BCF6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2375824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2320" userDrawn="1">
          <p15:clr>
            <a:srgbClr val="FBAE40"/>
          </p15:clr>
        </p15:guide>
        <p15:guide id="4" pos="7401" userDrawn="1">
          <p15:clr>
            <a:srgbClr val="FBAE40"/>
          </p15:clr>
        </p15:guide>
        <p15:guide id="5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mit Schmuckelemen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367ED8D4-2E97-7242-8356-6DEF1ECCAED3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3686175" y="786030"/>
            <a:ext cx="8050428" cy="546395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600">
                <a:latin typeface="Source Sans Pro" panose="020B0503030403020204" pitchFamily="34" charset="77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7915B08-D14D-9E4A-9776-44F52C0F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3AA6AEBA-802B-8341-A56F-07B9937151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F96B1DF-7CAC-9143-95B5-9B8D13BB8D33}"/>
              </a:ext>
            </a:extLst>
          </p:cNvPr>
          <p:cNvSpPr/>
          <p:nvPr userDrawn="1"/>
        </p:nvSpPr>
        <p:spPr>
          <a:xfrm>
            <a:off x="-2" y="512991"/>
            <a:ext cx="4953001" cy="1153439"/>
          </a:xfrm>
          <a:prstGeom prst="rect">
            <a:avLst/>
          </a:prstGeom>
          <a:solidFill>
            <a:srgbClr val="FF3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7009A0-CF7B-504B-854A-366F84E37E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12763"/>
            <a:ext cx="4953000" cy="1154112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0D71346C-5A68-3E4B-9A5B-9B77E0CB5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1113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1F150F8E-EB05-254E-A8D2-4A683DA9A7D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50943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C5CB4694-9A5D-B64A-8D2E-E264EF83FE2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55762" y="757962"/>
            <a:ext cx="3987688" cy="74345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D6D4206-F932-A743-9A49-A2C472EFE5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6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2320" userDrawn="1">
          <p15:clr>
            <a:srgbClr val="FBAE40"/>
          </p15:clr>
        </p15:guide>
        <p15:guide id="3" pos="7401" userDrawn="1">
          <p15:clr>
            <a:srgbClr val="FBAE40"/>
          </p15:clr>
        </p15:guide>
        <p15:guide id="4" orient="horz" pos="392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mit Schmuckelement mit eigenem Bild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346C4B-025F-6943-87B9-55D0FC4CAE7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-3" y="2154802"/>
            <a:ext cx="12192000" cy="4697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63D149-600E-FC49-AC5C-561B6B6B67C2}"/>
              </a:ext>
            </a:extLst>
          </p:cNvPr>
          <p:cNvGrpSpPr/>
          <p:nvPr userDrawn="1"/>
        </p:nvGrpSpPr>
        <p:grpSpPr>
          <a:xfrm rot="5400000">
            <a:off x="11074703" y="1795300"/>
            <a:ext cx="1502579" cy="732014"/>
            <a:chOff x="8873174" y="1666430"/>
            <a:chExt cx="1547855" cy="754072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FD992A19-C0D2-3345-BC3C-42D03C1F9414}"/>
                </a:ext>
              </a:extLst>
            </p:cNvPr>
            <p:cNvSpPr/>
            <p:nvPr userDrawn="1"/>
          </p:nvSpPr>
          <p:spPr>
            <a:xfrm rot="5400000">
              <a:off x="8883103" y="1656503"/>
              <a:ext cx="754069" cy="773928"/>
            </a:xfrm>
            <a:prstGeom prst="rect">
              <a:avLst/>
            </a:prstGeom>
            <a:solidFill>
              <a:srgbClr val="FF3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7219153-C86E-F543-B9E4-A1429D4BC8B2}"/>
                </a:ext>
              </a:extLst>
            </p:cNvPr>
            <p:cNvSpPr/>
            <p:nvPr userDrawn="1"/>
          </p:nvSpPr>
          <p:spPr>
            <a:xfrm rot="5400000">
              <a:off x="9657030" y="1656502"/>
              <a:ext cx="754072" cy="773927"/>
            </a:xfrm>
            <a:prstGeom prst="rect">
              <a:avLst/>
            </a:prstGeom>
            <a:solidFill>
              <a:srgbClr val="FF3E4F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ACB7C88-A062-3A4F-A85D-8318E27297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60163" y="1409700"/>
            <a:ext cx="731837" cy="750888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1F47A90A-AF0A-F543-96A5-6BB3BD0B44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59983" y="2160588"/>
            <a:ext cx="732017" cy="764153"/>
          </a:xfrm>
          <a:solidFill>
            <a:srgbClr val="FF3E4F">
              <a:alpha val="5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73746191-F532-FA42-87FC-C5BC2E936B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67584" y="350149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D5A774E1-9A0B-3A4C-A770-23292E9D8C8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0631" y="786052"/>
            <a:ext cx="6357555" cy="707496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F7366C4-E78E-E94D-A6BC-6BFCFE7932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8D91B0D4-A19A-544A-93BF-CD2344DE710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31719" y="6422599"/>
            <a:ext cx="3159789" cy="204297"/>
          </a:xfrm>
          <a:noFill/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756208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pos="717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EBDE6048-1B46-B644-8AD3-CF3EC458C9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787398" y="746544"/>
            <a:ext cx="4535993" cy="537089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/>
              <a:t>Foto des Kontakts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4F4D74E-6E4B-6343-8017-37C114F69B64}"/>
              </a:ext>
            </a:extLst>
          </p:cNvPr>
          <p:cNvGrpSpPr/>
          <p:nvPr userDrawn="1"/>
        </p:nvGrpSpPr>
        <p:grpSpPr>
          <a:xfrm rot="16200000">
            <a:off x="6239188" y="5512269"/>
            <a:ext cx="1523228" cy="1168235"/>
            <a:chOff x="6186222" y="3093366"/>
            <a:chExt cx="2992820" cy="2295331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19DEC32-D4FD-BB40-9C2D-BBF02AF1E9CF}"/>
                </a:ext>
              </a:extLst>
            </p:cNvPr>
            <p:cNvSpPr/>
            <p:nvPr userDrawn="1"/>
          </p:nvSpPr>
          <p:spPr>
            <a:xfrm>
              <a:off x="6186222" y="3093366"/>
              <a:ext cx="2199416" cy="1527051"/>
            </a:xfrm>
            <a:prstGeom prst="rect">
              <a:avLst/>
            </a:prstGeom>
            <a:solidFill>
              <a:srgbClr val="0BD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DBB9271-0C4C-A24A-A1FC-FA028FCA8451}"/>
                </a:ext>
              </a:extLst>
            </p:cNvPr>
            <p:cNvSpPr/>
            <p:nvPr userDrawn="1"/>
          </p:nvSpPr>
          <p:spPr>
            <a:xfrm>
              <a:off x="7641266" y="3858136"/>
              <a:ext cx="1537776" cy="1530561"/>
            </a:xfrm>
            <a:prstGeom prst="rect">
              <a:avLst/>
            </a:prstGeom>
            <a:solidFill>
              <a:srgbClr val="2862F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394B7C-941F-FD41-9073-E47435DEC0FE}"/>
                </a:ext>
              </a:extLst>
            </p:cNvPr>
            <p:cNvSpPr/>
            <p:nvPr userDrawn="1"/>
          </p:nvSpPr>
          <p:spPr>
            <a:xfrm>
              <a:off x="7641268" y="3859689"/>
              <a:ext cx="744371" cy="760730"/>
            </a:xfrm>
            <a:prstGeom prst="rect">
              <a:avLst/>
            </a:prstGeom>
            <a:solidFill>
              <a:srgbClr val="035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943FC0A2-9FA0-474F-B3ED-D5FDB709C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0382" y="6422599"/>
            <a:ext cx="40622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BE530C01-76F5-1143-8AA8-3A42239C5A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7FE985A2-4B9A-CA46-A163-508ABBDB1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CE7686-4CBC-9F45-BB10-FD2C2C02E5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6661" y="5738813"/>
            <a:ext cx="777875" cy="1119187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46C9372-62F7-734E-AF15-4A9B9952D9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94389" y="5333398"/>
            <a:ext cx="795645" cy="781050"/>
          </a:xfrm>
          <a:solidFill>
            <a:srgbClr val="2862FA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D7C76833-8C12-364A-B1C5-DC52EC5A0F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94389" y="5733979"/>
            <a:ext cx="399528" cy="381071"/>
          </a:xfrm>
          <a:solidFill>
            <a:srgbClr val="03537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66588428-EC01-754E-86E7-49BACA7B7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73746191-F532-FA42-87FC-C5BC2E936B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67584" y="350257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24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0859" y="444124"/>
            <a:ext cx="2636781" cy="1536357"/>
          </a:xfrm>
          <a:prstGeom prst="rect">
            <a:avLst/>
          </a:prstGeom>
        </p:spPr>
      </p:pic>
      <p:sp>
        <p:nvSpPr>
          <p:cNvPr id="17" name="Inhaltsplatzhalter 9">
            <a:extLst>
              <a:ext uri="{FF2B5EF4-FFF2-40B4-BE49-F238E27FC236}">
                <a16:creationId xmlns:a16="http://schemas.microsoft.com/office/drawing/2014/main" id="{556C2E84-27B3-8D4F-97AC-A7E31C53A68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58088" y="3375712"/>
            <a:ext cx="5163075" cy="3081072"/>
          </a:xfrm>
        </p:spPr>
        <p:txBody>
          <a:bodyPr/>
          <a:lstStyle>
            <a:lvl1pPr marL="0" indent="0">
              <a:buNone/>
              <a:defRPr b="0" baseline="0"/>
            </a:lvl1pPr>
          </a:lstStyle>
          <a:p>
            <a:r>
              <a:rPr lang="de-DE" dirty="0"/>
              <a:t>Kontakt: Name (fett),Tätigkeit, Fakultät, Fon, (Mobil), Raum, Mail (normal)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b="0" dirty="0"/>
              <a:t>Hier steht die Tätigkeit</a:t>
            </a:r>
            <a:br>
              <a:rPr lang="de-DE" b="0" dirty="0"/>
            </a:br>
            <a:r>
              <a:rPr lang="de-DE" b="0" dirty="0"/>
              <a:t>Hier steht die Fakultät / das Institut / die Abteilung</a:t>
            </a:r>
          </a:p>
          <a:p>
            <a:r>
              <a:rPr lang="de-DE" b="0" dirty="0"/>
              <a:t>Fon 	+49 9281 409-1234</a:t>
            </a:r>
            <a:br>
              <a:rPr lang="de-DE" b="0" dirty="0"/>
            </a:br>
            <a:r>
              <a:rPr lang="de-DE" b="0" dirty="0"/>
              <a:t>Mobil	+49 176 12345678</a:t>
            </a:r>
            <a:br>
              <a:rPr lang="de-DE" b="0" dirty="0"/>
            </a:br>
            <a:r>
              <a:rPr lang="de-DE" b="0" dirty="0"/>
              <a:t>Raum	A123</a:t>
            </a:r>
          </a:p>
          <a:p>
            <a:r>
              <a:rPr lang="de-DE" b="0" dirty="0"/>
              <a:t>vorname.nachname@hof-university.de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636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pos="4271" userDrawn="1">
          <p15:clr>
            <a:srgbClr val="FBAE40"/>
          </p15:clr>
        </p15:guide>
        <p15:guide id="5" orient="horz" pos="386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0AD389D-A929-FF42-A4F1-0BDAEB5A9F0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56588" y="-4618"/>
            <a:ext cx="5335646" cy="6866738"/>
          </a:xfrm>
          <a:custGeom>
            <a:avLst/>
            <a:gdLst>
              <a:gd name="connsiteX0" fmla="*/ 0 w 5373993"/>
              <a:gd name="connsiteY0" fmla="*/ 3429000 h 6858000"/>
              <a:gd name="connsiteX1" fmla="*/ 2235581 w 5373993"/>
              <a:gd name="connsiteY1" fmla="*/ 2 h 6858000"/>
              <a:gd name="connsiteX2" fmla="*/ 3138412 w 5373993"/>
              <a:gd name="connsiteY2" fmla="*/ 2 h 6858000"/>
              <a:gd name="connsiteX3" fmla="*/ 5373993 w 5373993"/>
              <a:gd name="connsiteY3" fmla="*/ 3429000 h 6858000"/>
              <a:gd name="connsiteX4" fmla="*/ 3138412 w 5373993"/>
              <a:gd name="connsiteY4" fmla="*/ 6857998 h 6858000"/>
              <a:gd name="connsiteX5" fmla="*/ 2235581 w 5373993"/>
              <a:gd name="connsiteY5" fmla="*/ 6857998 h 6858000"/>
              <a:gd name="connsiteX6" fmla="*/ 0 w 5373993"/>
              <a:gd name="connsiteY6" fmla="*/ 3429000 h 6858000"/>
              <a:gd name="connsiteX0" fmla="*/ 0 w 5373993"/>
              <a:gd name="connsiteY0" fmla="*/ 3428998 h 6857996"/>
              <a:gd name="connsiteX1" fmla="*/ 2302489 w 5373993"/>
              <a:gd name="connsiteY1" fmla="*/ 11151 h 6857996"/>
              <a:gd name="connsiteX2" fmla="*/ 3138412 w 5373993"/>
              <a:gd name="connsiteY2" fmla="*/ 0 h 6857996"/>
              <a:gd name="connsiteX3" fmla="*/ 5373993 w 5373993"/>
              <a:gd name="connsiteY3" fmla="*/ 3428998 h 6857996"/>
              <a:gd name="connsiteX4" fmla="*/ 3138412 w 5373993"/>
              <a:gd name="connsiteY4" fmla="*/ 6857996 h 6857996"/>
              <a:gd name="connsiteX5" fmla="*/ 2235581 w 5373993"/>
              <a:gd name="connsiteY5" fmla="*/ 6857996 h 6857996"/>
              <a:gd name="connsiteX6" fmla="*/ 0 w 5373993"/>
              <a:gd name="connsiteY6" fmla="*/ 3428998 h 6857996"/>
              <a:gd name="connsiteX0" fmla="*/ 0 w 5390959"/>
              <a:gd name="connsiteY0" fmla="*/ 3440150 h 6869148"/>
              <a:gd name="connsiteX1" fmla="*/ 2302489 w 5390959"/>
              <a:gd name="connsiteY1" fmla="*/ 22303 h 6869148"/>
              <a:gd name="connsiteX2" fmla="*/ 5390959 w 5390959"/>
              <a:gd name="connsiteY2" fmla="*/ 0 h 6869148"/>
              <a:gd name="connsiteX3" fmla="*/ 5373993 w 5390959"/>
              <a:gd name="connsiteY3" fmla="*/ 3440150 h 6869148"/>
              <a:gd name="connsiteX4" fmla="*/ 3138412 w 5390959"/>
              <a:gd name="connsiteY4" fmla="*/ 6869148 h 6869148"/>
              <a:gd name="connsiteX5" fmla="*/ 2235581 w 5390959"/>
              <a:gd name="connsiteY5" fmla="*/ 6869148 h 6869148"/>
              <a:gd name="connsiteX6" fmla="*/ 0 w 5390959"/>
              <a:gd name="connsiteY6" fmla="*/ 3440150 h 6869148"/>
              <a:gd name="connsiteX0" fmla="*/ 0 w 5390959"/>
              <a:gd name="connsiteY0" fmla="*/ 3440150 h 6924904"/>
              <a:gd name="connsiteX1" fmla="*/ 2302489 w 5390959"/>
              <a:gd name="connsiteY1" fmla="*/ 22303 h 6924904"/>
              <a:gd name="connsiteX2" fmla="*/ 5390959 w 5390959"/>
              <a:gd name="connsiteY2" fmla="*/ 0 h 6924904"/>
              <a:gd name="connsiteX3" fmla="*/ 5373993 w 5390959"/>
              <a:gd name="connsiteY3" fmla="*/ 3440150 h 6924904"/>
              <a:gd name="connsiteX4" fmla="*/ 4052812 w 5390959"/>
              <a:gd name="connsiteY4" fmla="*/ 6924904 h 6924904"/>
              <a:gd name="connsiteX5" fmla="*/ 2235581 w 5390959"/>
              <a:gd name="connsiteY5" fmla="*/ 6869148 h 6924904"/>
              <a:gd name="connsiteX6" fmla="*/ 0 w 5390959"/>
              <a:gd name="connsiteY6" fmla="*/ 3440150 h 6924904"/>
              <a:gd name="connsiteX0" fmla="*/ 72721 w 3155378"/>
              <a:gd name="connsiteY0" fmla="*/ 4611028 h 6924904"/>
              <a:gd name="connsiteX1" fmla="*/ 66908 w 3155378"/>
              <a:gd name="connsiteY1" fmla="*/ 22303 h 6924904"/>
              <a:gd name="connsiteX2" fmla="*/ 3155378 w 3155378"/>
              <a:gd name="connsiteY2" fmla="*/ 0 h 6924904"/>
              <a:gd name="connsiteX3" fmla="*/ 3138412 w 3155378"/>
              <a:gd name="connsiteY3" fmla="*/ 3440150 h 6924904"/>
              <a:gd name="connsiteX4" fmla="*/ 1817231 w 3155378"/>
              <a:gd name="connsiteY4" fmla="*/ 6924904 h 6924904"/>
              <a:gd name="connsiteX5" fmla="*/ 0 w 3155378"/>
              <a:gd name="connsiteY5" fmla="*/ 6869148 h 6924904"/>
              <a:gd name="connsiteX6" fmla="*/ 72721 w 3155378"/>
              <a:gd name="connsiteY6" fmla="*/ 4611028 h 6924904"/>
              <a:gd name="connsiteX0" fmla="*/ 2347570 w 5430227"/>
              <a:gd name="connsiteY0" fmla="*/ 4611028 h 6924904"/>
              <a:gd name="connsiteX1" fmla="*/ 2341757 w 5430227"/>
              <a:gd name="connsiteY1" fmla="*/ 22303 h 6924904"/>
              <a:gd name="connsiteX2" fmla="*/ 5430227 w 5430227"/>
              <a:gd name="connsiteY2" fmla="*/ 0 h 6924904"/>
              <a:gd name="connsiteX3" fmla="*/ 5413261 w 5430227"/>
              <a:gd name="connsiteY3" fmla="*/ 3440150 h 6924904"/>
              <a:gd name="connsiteX4" fmla="*/ 4092080 w 5430227"/>
              <a:gd name="connsiteY4" fmla="*/ 6924904 h 6924904"/>
              <a:gd name="connsiteX5" fmla="*/ 0 w 5430227"/>
              <a:gd name="connsiteY5" fmla="*/ 4583148 h 6924904"/>
              <a:gd name="connsiteX6" fmla="*/ 2347570 w 5430227"/>
              <a:gd name="connsiteY6" fmla="*/ 4611028 h 6924904"/>
              <a:gd name="connsiteX0" fmla="*/ 2280663 w 5363320"/>
              <a:gd name="connsiteY0" fmla="*/ 4611028 h 6924904"/>
              <a:gd name="connsiteX1" fmla="*/ 2274850 w 5363320"/>
              <a:gd name="connsiteY1" fmla="*/ 22303 h 6924904"/>
              <a:gd name="connsiteX2" fmla="*/ 5363320 w 5363320"/>
              <a:gd name="connsiteY2" fmla="*/ 0 h 6924904"/>
              <a:gd name="connsiteX3" fmla="*/ 5346354 w 5363320"/>
              <a:gd name="connsiteY3" fmla="*/ 3440150 h 6924904"/>
              <a:gd name="connsiteX4" fmla="*/ 4025173 w 5363320"/>
              <a:gd name="connsiteY4" fmla="*/ 6924904 h 6924904"/>
              <a:gd name="connsiteX5" fmla="*/ 0 w 5363320"/>
              <a:gd name="connsiteY5" fmla="*/ 4583148 h 6924904"/>
              <a:gd name="connsiteX6" fmla="*/ 2280663 w 5363320"/>
              <a:gd name="connsiteY6" fmla="*/ 4611028 h 6924904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3440150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5747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1608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73655"/>
              <a:gd name="connsiteY0" fmla="*/ 4615167 h 6895589"/>
              <a:gd name="connsiteX1" fmla="*/ 2293443 w 5373655"/>
              <a:gd name="connsiteY1" fmla="*/ 5747 h 6895589"/>
              <a:gd name="connsiteX2" fmla="*/ 5373655 w 5373655"/>
              <a:gd name="connsiteY2" fmla="*/ 0 h 6895589"/>
              <a:gd name="connsiteX3" fmla="*/ 5369074 w 5373655"/>
              <a:gd name="connsiteY3" fmla="*/ 6867714 h 6895589"/>
              <a:gd name="connsiteX4" fmla="*/ 0 w 5373655"/>
              <a:gd name="connsiteY4" fmla="*/ 6895589 h 6895589"/>
              <a:gd name="connsiteX5" fmla="*/ 22720 w 5373655"/>
              <a:gd name="connsiteY5" fmla="*/ 4587287 h 6895589"/>
              <a:gd name="connsiteX6" fmla="*/ 2303383 w 5373655"/>
              <a:gd name="connsiteY6" fmla="*/ 4615167 h 6895589"/>
              <a:gd name="connsiteX0" fmla="*/ 2303383 w 5394296"/>
              <a:gd name="connsiteY0" fmla="*/ 4611028 h 6891450"/>
              <a:gd name="connsiteX1" fmla="*/ 2293443 w 5394296"/>
              <a:gd name="connsiteY1" fmla="*/ 1608 h 6891450"/>
              <a:gd name="connsiteX2" fmla="*/ 5394296 w 5394296"/>
              <a:gd name="connsiteY2" fmla="*/ 0 h 6891450"/>
              <a:gd name="connsiteX3" fmla="*/ 5369074 w 5394296"/>
              <a:gd name="connsiteY3" fmla="*/ 6863575 h 6891450"/>
              <a:gd name="connsiteX4" fmla="*/ 0 w 5394296"/>
              <a:gd name="connsiteY4" fmla="*/ 6891450 h 6891450"/>
              <a:gd name="connsiteX5" fmla="*/ 22720 w 5394296"/>
              <a:gd name="connsiteY5" fmla="*/ 4583148 h 6891450"/>
              <a:gd name="connsiteX6" fmla="*/ 2303383 w 5394296"/>
              <a:gd name="connsiteY6" fmla="*/ 4611028 h 6891450"/>
              <a:gd name="connsiteX0" fmla="*/ 2303383 w 5395530"/>
              <a:gd name="connsiteY0" fmla="*/ 4611028 h 6892549"/>
              <a:gd name="connsiteX1" fmla="*/ 2293443 w 5395530"/>
              <a:gd name="connsiteY1" fmla="*/ 1608 h 6892549"/>
              <a:gd name="connsiteX2" fmla="*/ 5394296 w 5395530"/>
              <a:gd name="connsiteY2" fmla="*/ 0 h 6892549"/>
              <a:gd name="connsiteX3" fmla="*/ 5393844 w 5395530"/>
              <a:gd name="connsiteY3" fmla="*/ 6892549 h 6892549"/>
              <a:gd name="connsiteX4" fmla="*/ 0 w 5395530"/>
              <a:gd name="connsiteY4" fmla="*/ 6891450 h 6892549"/>
              <a:gd name="connsiteX5" fmla="*/ 22720 w 5395530"/>
              <a:gd name="connsiteY5" fmla="*/ 4583148 h 6892549"/>
              <a:gd name="connsiteX6" fmla="*/ 2303383 w 5395530"/>
              <a:gd name="connsiteY6" fmla="*/ 4611028 h 6892549"/>
              <a:gd name="connsiteX0" fmla="*/ 2280663 w 5372810"/>
              <a:gd name="connsiteY0" fmla="*/ 4611028 h 6895590"/>
              <a:gd name="connsiteX1" fmla="*/ 2270723 w 5372810"/>
              <a:gd name="connsiteY1" fmla="*/ 1608 h 6895590"/>
              <a:gd name="connsiteX2" fmla="*/ 5371576 w 5372810"/>
              <a:gd name="connsiteY2" fmla="*/ 0 h 6895590"/>
              <a:gd name="connsiteX3" fmla="*/ 5371124 w 5372810"/>
              <a:gd name="connsiteY3" fmla="*/ 6892549 h 6895590"/>
              <a:gd name="connsiteX4" fmla="*/ 26818 w 5372810"/>
              <a:gd name="connsiteY4" fmla="*/ 6895590 h 6895590"/>
              <a:gd name="connsiteX5" fmla="*/ 0 w 5372810"/>
              <a:gd name="connsiteY5" fmla="*/ 4583148 h 6895590"/>
              <a:gd name="connsiteX6" fmla="*/ 2280663 w 5372810"/>
              <a:gd name="connsiteY6" fmla="*/ 4611028 h 6895590"/>
              <a:gd name="connsiteX0" fmla="*/ 2253845 w 5345992"/>
              <a:gd name="connsiteY0" fmla="*/ 4611028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53845 w 5345992"/>
              <a:gd name="connsiteY6" fmla="*/ 4611028 h 6895590"/>
              <a:gd name="connsiteX0" fmla="*/ 2295127 w 5345992"/>
              <a:gd name="connsiteY0" fmla="*/ 4602750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992"/>
              <a:gd name="connsiteY0" fmla="*/ 4602750 h 6895590"/>
              <a:gd name="connsiteX1" fmla="*/ 2289315 w 5345992"/>
              <a:gd name="connsiteY1" fmla="*/ 5747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569"/>
              <a:gd name="connsiteY0" fmla="*/ 4602750 h 6895590"/>
              <a:gd name="connsiteX1" fmla="*/ 2289315 w 5345569"/>
              <a:gd name="connsiteY1" fmla="*/ 5747 h 6895590"/>
              <a:gd name="connsiteX2" fmla="*/ 5340130 w 5345569"/>
              <a:gd name="connsiteY2" fmla="*/ 0 h 6895590"/>
              <a:gd name="connsiteX3" fmla="*/ 5344306 w 5345569"/>
              <a:gd name="connsiteY3" fmla="*/ 6892549 h 6895590"/>
              <a:gd name="connsiteX4" fmla="*/ 0 w 5345569"/>
              <a:gd name="connsiteY4" fmla="*/ 6895590 h 6895590"/>
              <a:gd name="connsiteX5" fmla="*/ 6208 w 5345569"/>
              <a:gd name="connsiteY5" fmla="*/ 4591426 h 6895590"/>
              <a:gd name="connsiteX6" fmla="*/ 2295127 w 5345569"/>
              <a:gd name="connsiteY6" fmla="*/ 4602750 h 6895590"/>
              <a:gd name="connsiteX0" fmla="*/ 2295127 w 5344413"/>
              <a:gd name="connsiteY0" fmla="*/ 4597003 h 6889843"/>
              <a:gd name="connsiteX1" fmla="*/ 2289315 w 5344413"/>
              <a:gd name="connsiteY1" fmla="*/ 0 h 6889843"/>
              <a:gd name="connsiteX2" fmla="*/ 5136474 w 5344413"/>
              <a:gd name="connsiteY2" fmla="*/ 100989 h 6889843"/>
              <a:gd name="connsiteX3" fmla="*/ 5344306 w 5344413"/>
              <a:gd name="connsiteY3" fmla="*/ 6886802 h 6889843"/>
              <a:gd name="connsiteX4" fmla="*/ 0 w 5344413"/>
              <a:gd name="connsiteY4" fmla="*/ 6889843 h 6889843"/>
              <a:gd name="connsiteX5" fmla="*/ 6208 w 5344413"/>
              <a:gd name="connsiteY5" fmla="*/ 4585679 h 6889843"/>
              <a:gd name="connsiteX6" fmla="*/ 2295127 w 5344413"/>
              <a:gd name="connsiteY6" fmla="*/ 4597003 h 6889843"/>
              <a:gd name="connsiteX0" fmla="*/ 2295127 w 5344873"/>
              <a:gd name="connsiteY0" fmla="*/ 4598109 h 6890949"/>
              <a:gd name="connsiteX1" fmla="*/ 2289315 w 5344873"/>
              <a:gd name="connsiteY1" fmla="*/ 1106 h 6890949"/>
              <a:gd name="connsiteX2" fmla="*/ 5316987 w 5344873"/>
              <a:gd name="connsiteY2" fmla="*/ 0 h 6890949"/>
              <a:gd name="connsiteX3" fmla="*/ 5344306 w 5344873"/>
              <a:gd name="connsiteY3" fmla="*/ 6887908 h 6890949"/>
              <a:gd name="connsiteX4" fmla="*/ 0 w 5344873"/>
              <a:gd name="connsiteY4" fmla="*/ 6890949 h 6890949"/>
              <a:gd name="connsiteX5" fmla="*/ 6208 w 5344873"/>
              <a:gd name="connsiteY5" fmla="*/ 4586785 h 6890949"/>
              <a:gd name="connsiteX6" fmla="*/ 2295127 w 5344873"/>
              <a:gd name="connsiteY6" fmla="*/ 4598109 h 6890949"/>
              <a:gd name="connsiteX0" fmla="*/ 2295127 w 5345319"/>
              <a:gd name="connsiteY0" fmla="*/ 4607390 h 6900230"/>
              <a:gd name="connsiteX1" fmla="*/ 2289315 w 5345319"/>
              <a:gd name="connsiteY1" fmla="*/ 10387 h 6900230"/>
              <a:gd name="connsiteX2" fmla="*/ 5335502 w 5345319"/>
              <a:gd name="connsiteY2" fmla="*/ 0 h 6900230"/>
              <a:gd name="connsiteX3" fmla="*/ 5344306 w 5345319"/>
              <a:gd name="connsiteY3" fmla="*/ 6897189 h 6900230"/>
              <a:gd name="connsiteX4" fmla="*/ 0 w 5345319"/>
              <a:gd name="connsiteY4" fmla="*/ 6900230 h 6900230"/>
              <a:gd name="connsiteX5" fmla="*/ 6208 w 5345319"/>
              <a:gd name="connsiteY5" fmla="*/ 4596066 h 6900230"/>
              <a:gd name="connsiteX6" fmla="*/ 2295127 w 5345319"/>
              <a:gd name="connsiteY6" fmla="*/ 4607390 h 6900230"/>
              <a:gd name="connsiteX0" fmla="*/ 2295127 w 5336735"/>
              <a:gd name="connsiteY0" fmla="*/ 4607390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7390 h 6900230"/>
              <a:gd name="connsiteX0" fmla="*/ 2295127 w 5336735"/>
              <a:gd name="connsiteY0" fmla="*/ 4602994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2994 h 6900230"/>
              <a:gd name="connsiteX0" fmla="*/ 2295127 w 5336735"/>
              <a:gd name="connsiteY0" fmla="*/ 4591363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0319 h 6909186"/>
              <a:gd name="connsiteX1" fmla="*/ 2289315 w 5336735"/>
              <a:gd name="connsiteY1" fmla="*/ 0 h 6909186"/>
              <a:gd name="connsiteX2" fmla="*/ 5335502 w 5336735"/>
              <a:gd name="connsiteY2" fmla="*/ 8956 h 6909186"/>
              <a:gd name="connsiteX3" fmla="*/ 5335049 w 5336735"/>
              <a:gd name="connsiteY3" fmla="*/ 6906145 h 6909186"/>
              <a:gd name="connsiteX4" fmla="*/ 0 w 5336735"/>
              <a:gd name="connsiteY4" fmla="*/ 6909186 h 6909186"/>
              <a:gd name="connsiteX5" fmla="*/ 6208 w 5336735"/>
              <a:gd name="connsiteY5" fmla="*/ 4605022 h 6909186"/>
              <a:gd name="connsiteX6" fmla="*/ 2295127 w 5336735"/>
              <a:gd name="connsiteY6" fmla="*/ 4600319 h 6909186"/>
              <a:gd name="connsiteX0" fmla="*/ 2295127 w 5336735"/>
              <a:gd name="connsiteY0" fmla="*/ 4591363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590647 h 6889841"/>
              <a:gd name="connsiteX1" fmla="*/ 2308570 w 5336735"/>
              <a:gd name="connsiteY1" fmla="*/ 0 h 6889841"/>
              <a:gd name="connsiteX2" fmla="*/ 5335503 w 5336735"/>
              <a:gd name="connsiteY2" fmla="*/ 134694 h 6889841"/>
              <a:gd name="connsiteX3" fmla="*/ 5335049 w 5336735"/>
              <a:gd name="connsiteY3" fmla="*/ 6886800 h 6889841"/>
              <a:gd name="connsiteX4" fmla="*/ 0 w 5336735"/>
              <a:gd name="connsiteY4" fmla="*/ 6889841 h 6889841"/>
              <a:gd name="connsiteX5" fmla="*/ 6208 w 5336735"/>
              <a:gd name="connsiteY5" fmla="*/ 4585677 h 6889841"/>
              <a:gd name="connsiteX6" fmla="*/ 2295127 w 5336735"/>
              <a:gd name="connsiteY6" fmla="*/ 4590647 h 6889841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4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6735" h="6900230">
                <a:moveTo>
                  <a:pt x="2295127" y="4601036"/>
                </a:moveTo>
                <a:cubicBezTo>
                  <a:pt x="2293189" y="3071461"/>
                  <a:pt x="2310508" y="1539964"/>
                  <a:pt x="2308570" y="10389"/>
                </a:cubicBezTo>
                <a:lnTo>
                  <a:pt x="5335504" y="0"/>
                </a:lnTo>
                <a:cubicBezTo>
                  <a:pt x="5329849" y="1146717"/>
                  <a:pt x="5340704" y="5750472"/>
                  <a:pt x="5335049" y="6897189"/>
                </a:cubicBezTo>
                <a:lnTo>
                  <a:pt x="0" y="6900230"/>
                </a:lnTo>
                <a:cubicBezTo>
                  <a:pt x="2069" y="6132175"/>
                  <a:pt x="4139" y="5364121"/>
                  <a:pt x="6208" y="4596066"/>
                </a:cubicBezTo>
                <a:lnTo>
                  <a:pt x="2295127" y="4601036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 algn="l">
              <a:buNone/>
              <a:defRPr sz="1800" b="0" i="0">
                <a:noFill/>
                <a:latin typeface="Sora Light" pitchFamily="2" charset="0"/>
                <a:cs typeface="Sora Light" pitchFamily="2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5D58850B-D3AB-BB42-B5CC-FE90C20C64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8114" y="3036889"/>
            <a:ext cx="2291156" cy="2300228"/>
          </a:xfrm>
          <a:solidFill>
            <a:srgbClr val="0BDA7E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E8820E25-13F7-DB49-A1BD-C2600AE1D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8113" y="3036889"/>
            <a:ext cx="1530477" cy="1536699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8" name="Textplatzhalter 23">
            <a:extLst>
              <a:ext uri="{FF2B5EF4-FFF2-40B4-BE49-F238E27FC236}">
                <a16:creationId xmlns:a16="http://schemas.microsoft.com/office/drawing/2014/main" id="{1BC84456-E62F-3A47-BE91-5D9B3A06A6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6587" y="4564679"/>
            <a:ext cx="771525" cy="1536700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FA309C6-C56C-E144-9A4B-8B47DBB8852A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58781" y="4608997"/>
            <a:ext cx="5335647" cy="1973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Second level</a:t>
            </a:r>
          </a:p>
          <a:p>
            <a:pPr marL="0" marR="0" lvl="2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Third level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Fourth level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Fifth level</a:t>
            </a:r>
            <a:endParaRPr lang="de-DE" sz="1800" dirty="0"/>
          </a:p>
        </p:txBody>
      </p:sp>
      <p:pic>
        <p:nvPicPr>
          <p:cNvPr id="3" name="Bildplatzhalter 10">
            <a:extLst>
              <a:ext uri="{FF2B5EF4-FFF2-40B4-BE49-F238E27FC236}">
                <a16:creationId xmlns:a16="http://schemas.microsoft.com/office/drawing/2014/main" id="{00D4A421-A7D3-CD37-A34B-8D92B823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20859" y="444124"/>
            <a:ext cx="2636781" cy="15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66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 userDrawn="1">
          <p15:clr>
            <a:srgbClr val="FBAE40"/>
          </p15:clr>
        </p15:guide>
        <p15:guide id="2" pos="5768" userDrawn="1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orient="horz" pos="2886" userDrawn="1">
          <p15:clr>
            <a:srgbClr val="FBAE40"/>
          </p15:clr>
        </p15:guide>
        <p15:guide id="5" pos="431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92BA2-648E-934B-B31E-93E1B3DFA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21220-8703-E645-8C24-98806892A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9F81C8-A8BA-A241-913C-52AD55C22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903E7A-2E49-694D-B41A-C3B0678AE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AABB97-D3DE-E344-95A1-38A4B26AE0F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94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83" r:id="rId3"/>
    <p:sldLayoutId id="2147483784" r:id="rId4"/>
    <p:sldLayoutId id="2147483756" r:id="rId5"/>
    <p:sldLayoutId id="2147483766" r:id="rId6"/>
    <p:sldLayoutId id="2147483757" r:id="rId7"/>
    <p:sldLayoutId id="2147483760" r:id="rId8"/>
    <p:sldLayoutId id="2147483764" r:id="rId9"/>
    <p:sldLayoutId id="2147483765" r:id="rId10"/>
    <p:sldLayoutId id="2147483772" r:id="rId11"/>
    <p:sldLayoutId id="2147483774" r:id="rId12"/>
    <p:sldLayoutId id="2147483776" r:id="rId13"/>
    <p:sldLayoutId id="2147483778" r:id="rId14"/>
    <p:sldLayoutId id="2147483758" r:id="rId15"/>
    <p:sldLayoutId id="2147483782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nhaltsplatzhalter 12" descr="Ein Bild, das Gras, Himmel, draußen enthält.&#10;&#10;Automatisch generierte Beschreibung">
            <a:extLst>
              <a:ext uri="{FF2B5EF4-FFF2-40B4-BE49-F238E27FC236}">
                <a16:creationId xmlns:a16="http://schemas.microsoft.com/office/drawing/2014/main" id="{2C91ABFB-B72B-8641-9058-C53F1B4FC4F7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6413" y="0"/>
            <a:ext cx="5335587" cy="6858000"/>
          </a:xfr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E61D10-6446-EA44-ACC5-31CA0F37B0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B1C936-03BB-C844-85C5-F67871799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6670C4-B634-1545-AE03-1B285D5B1E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Inhaltsplatzhalter 4">
            <a:extLst>
              <a:ext uri="{FF2B5EF4-FFF2-40B4-BE49-F238E27FC236}">
                <a16:creationId xmlns:a16="http://schemas.microsoft.com/office/drawing/2014/main" id="{B922346C-354E-EE4C-A7CC-81A219416460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algn="ctr"/>
            <a:r>
              <a:rPr lang="tr-TR" b="1" i="0" dirty="0" err="1">
                <a:effectLst/>
                <a:latin typeface="-apple-system"/>
              </a:rPr>
              <a:t>Vegetation</a:t>
            </a:r>
            <a:r>
              <a:rPr lang="tr-TR" b="1" i="0" dirty="0">
                <a:effectLst/>
                <a:latin typeface="-apple-system"/>
              </a:rPr>
              <a:t> </a:t>
            </a:r>
            <a:r>
              <a:rPr lang="tr-TR" b="1" i="0" dirty="0" err="1">
                <a:effectLst/>
                <a:latin typeface="-apple-system"/>
              </a:rPr>
              <a:t>Health</a:t>
            </a:r>
            <a:r>
              <a:rPr lang="tr-TR" b="1" i="0" dirty="0">
                <a:effectLst/>
                <a:latin typeface="-apple-system"/>
              </a:rPr>
              <a:t> </a:t>
            </a:r>
            <a:r>
              <a:rPr lang="tr-TR" b="1" i="0" dirty="0" err="1">
                <a:effectLst/>
                <a:latin typeface="-apple-system"/>
              </a:rPr>
              <a:t>Maps</a:t>
            </a:r>
            <a:endParaRPr lang="tr-TR" b="1" i="0" dirty="0">
              <a:effectLst/>
              <a:latin typeface="-apple-system"/>
            </a:endParaRPr>
          </a:p>
          <a:p>
            <a:pPr algn="ctr"/>
            <a:r>
              <a:rPr lang="tr-TR" dirty="0" err="1">
                <a:latin typeface="-apple-system"/>
              </a:rPr>
              <a:t>via</a:t>
            </a:r>
            <a:endParaRPr lang="tr-TR" b="1" i="0" dirty="0">
              <a:effectLst/>
              <a:latin typeface="-apple-system"/>
            </a:endParaRPr>
          </a:p>
          <a:p>
            <a:pPr algn="ctr"/>
            <a:r>
              <a:rPr lang="tr-TR" dirty="0">
                <a:latin typeface="-apple-system"/>
              </a:rPr>
              <a:t>DJI Pro Mini 4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8F2A289-27C7-B841-95E9-2016AE39FC4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tr-TR" dirty="0"/>
              <a:t>Berkay Gök | </a:t>
            </a:r>
            <a:r>
              <a:rPr lang="tr-TR" dirty="0" err="1"/>
              <a:t>Group</a:t>
            </a:r>
            <a:r>
              <a:rPr lang="tr-TR" dirty="0"/>
              <a:t> 3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504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haltsplatzhalter 10" descr="Ein Bild, das draußen, Himmel enthält.&#10;&#10;Automatisch generierte Beschreibung">
            <a:extLst>
              <a:ext uri="{FF2B5EF4-FFF2-40B4-BE49-F238E27FC236}">
                <a16:creationId xmlns:a16="http://schemas.microsoft.com/office/drawing/2014/main" id="{B76090B4-48EB-DA44-AD57-41130667066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5"/>
          <a:stretch/>
        </p:blipFill>
        <p:spPr>
          <a:xfrm>
            <a:off x="-18473" y="-9236"/>
            <a:ext cx="3826712" cy="6871854"/>
          </a:xfrm>
        </p:spPr>
      </p:pic>
      <p:sp>
        <p:nvSpPr>
          <p:cNvPr id="10" name="Textplatzhalter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3B6547F0-8383-3849-B3EF-873EBAD9A26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59343" y="301905"/>
            <a:ext cx="7391719" cy="447342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13" name="Tabelle 9">
            <a:extLst>
              <a:ext uri="{FF2B5EF4-FFF2-40B4-BE49-F238E27FC236}">
                <a16:creationId xmlns:a16="http://schemas.microsoft.com/office/drawing/2014/main" id="{BA6C0BC7-F6B2-C04D-8CD4-8CF0FB3BAC81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387540556"/>
              </p:ext>
            </p:extLst>
          </p:nvPr>
        </p:nvGraphicFramePr>
        <p:xfrm>
          <a:off x="4534116" y="934774"/>
          <a:ext cx="7325414" cy="61879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49675">
                  <a:extLst>
                    <a:ext uri="{9D8B030D-6E8A-4147-A177-3AD203B41FA5}">
                      <a16:colId xmlns:a16="http://schemas.microsoft.com/office/drawing/2014/main" val="3128021174"/>
                    </a:ext>
                  </a:extLst>
                </a:gridCol>
                <a:gridCol w="575739">
                  <a:extLst>
                    <a:ext uri="{9D8B030D-6E8A-4147-A177-3AD203B41FA5}">
                      <a16:colId xmlns:a16="http://schemas.microsoft.com/office/drawing/2014/main" val="2593373587"/>
                    </a:ext>
                  </a:extLst>
                </a:gridCol>
              </a:tblGrid>
              <a:tr h="459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tr-TR" dirty="0">
                          <a:latin typeface="+mn-lt"/>
                        </a:rPr>
                        <a:t>Problem &amp; Business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3-4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0427162"/>
                  </a:ext>
                </a:extLst>
              </a:tr>
              <a:tr h="459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tr-TR" dirty="0">
                          <a:latin typeface="+mn-lt"/>
                        </a:rPr>
                        <a:t>Tools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5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1916271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Overview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6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0629446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System</a:t>
                      </a:r>
                      <a:r>
                        <a:rPr lang="tr-TR" dirty="0">
                          <a:latin typeface="+mn-lt"/>
                        </a:rPr>
                        <a:t> Architecture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7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35122"/>
                  </a:ext>
                </a:extLst>
              </a:tr>
              <a:tr h="4813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>
                          <a:latin typeface="+mn-lt"/>
                        </a:rPr>
                        <a:t>Project </a:t>
                      </a:r>
                      <a:r>
                        <a:rPr lang="tr-TR" dirty="0" err="1">
                          <a:latin typeface="+mn-lt"/>
                        </a:rPr>
                        <a:t>Structure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8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000021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Setup</a:t>
                      </a:r>
                      <a:r>
                        <a:rPr lang="tr-TR" dirty="0">
                          <a:latin typeface="+mn-lt"/>
                        </a:rPr>
                        <a:t> &amp; </a:t>
                      </a:r>
                      <a:r>
                        <a:rPr lang="tr-TR" dirty="0" err="1">
                          <a:latin typeface="+mn-lt"/>
                        </a:rPr>
                        <a:t>Dependencies</a:t>
                      </a:r>
                      <a:r>
                        <a:rPr lang="tr-TR" dirty="0">
                          <a:latin typeface="+mn-lt"/>
                        </a:rPr>
                        <a:t> &amp; </a:t>
                      </a:r>
                      <a:r>
                        <a:rPr lang="tr-TR" dirty="0" err="1">
                          <a:latin typeface="+mn-lt"/>
                        </a:rPr>
                        <a:t>Usage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9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9523877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>
                          <a:latin typeface="+mn-lt"/>
                        </a:rPr>
                        <a:t>Model </a:t>
                      </a:r>
                      <a:r>
                        <a:rPr lang="tr-TR" dirty="0" err="1">
                          <a:latin typeface="+mn-lt"/>
                        </a:rPr>
                        <a:t>Details</a:t>
                      </a:r>
                      <a:endParaRPr lang="tr-TR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10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6545604"/>
                  </a:ext>
                </a:extLst>
              </a:tr>
              <a:tr h="423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Outputs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11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9389174"/>
                  </a:ext>
                </a:extLst>
              </a:tr>
              <a:tr h="423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>
                          <a:latin typeface="+mn-lt"/>
                        </a:rPr>
                        <a:t>Web Portal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12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6211035"/>
                  </a:ext>
                </a:extLst>
              </a:tr>
              <a:tr h="4230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>
                          <a:latin typeface="+mn-lt"/>
                        </a:rPr>
                        <a:t>RTMP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13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4764880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Validation</a:t>
                      </a:r>
                      <a:r>
                        <a:rPr lang="tr-TR" dirty="0">
                          <a:latin typeface="+mn-lt"/>
                        </a:rPr>
                        <a:t> &amp; </a:t>
                      </a:r>
                      <a:r>
                        <a:rPr lang="tr-TR" dirty="0" err="1">
                          <a:latin typeface="+mn-lt"/>
                        </a:rPr>
                        <a:t>Results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14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2699961"/>
                  </a:ext>
                </a:extLst>
              </a:tr>
              <a:tr h="385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Contributors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15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6778111"/>
                  </a:ext>
                </a:extLst>
              </a:tr>
              <a:tr h="385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End</a:t>
                      </a:r>
                      <a:endParaRPr lang="tr-TR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16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493926"/>
                  </a:ext>
                </a:extLst>
              </a:tr>
              <a:tr h="385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dirty="0"/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endParaRPr lang="de-DE" b="0" i="0" dirty="0">
                        <a:latin typeface="Source Sans Pro Light" panose="020B0403030403020204" pitchFamily="34" charset="77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802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25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0FD4F0-244E-4837-9330-1D3218DA8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/>
              <a:t>Berkay Gök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AFC55-68A8-4534-A47D-ACD67DDB9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5C5BF-D7FF-44B1-B7D6-96AFA894BC6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37942" y="893934"/>
            <a:ext cx="6599887" cy="851835"/>
          </a:xfrm>
        </p:spPr>
        <p:txBody>
          <a:bodyPr>
            <a:normAutofit/>
          </a:bodyPr>
          <a:lstStyle/>
          <a:p>
            <a:r>
              <a:rPr lang="tr-TR" dirty="0"/>
              <a:t>Problem</a:t>
            </a:r>
          </a:p>
        </p:txBody>
      </p:sp>
      <p:pic>
        <p:nvPicPr>
          <p:cNvPr id="4098" name="Picture 2" descr="Problem - Kostenlose menschen-Icons">
            <a:extLst>
              <a:ext uri="{FF2B5EF4-FFF2-40B4-BE49-F238E27FC236}">
                <a16:creationId xmlns:a16="http://schemas.microsoft.com/office/drawing/2014/main" id="{DCDFD3FA-260E-47A6-9DA8-A8014117DD22}"/>
              </a:ext>
            </a:extLst>
          </p:cNvPr>
          <p:cNvPicPr>
            <a:picLocks noGrp="1" noChangeAspect="1" noChangeArrowheads="1"/>
          </p:cNvPicPr>
          <p:nvPr>
            <p:ph sz="quarter" idx="2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0560" y="1845892"/>
            <a:ext cx="4345602" cy="434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9C77B1-791F-42D8-B8EA-0FBC77D80F2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014971" y="1845892"/>
            <a:ext cx="4390841" cy="43456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Checking vegetation health by hand takes a lot of time and effort hard for farmers to notice problems early, like dry areas or plant stress</a:t>
            </a:r>
            <a:endParaRPr lang="tr-TR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Satellite images are not detailed enough and not always available when needed</a:t>
            </a:r>
            <a:endParaRPr lang="tr-TR" sz="1200" dirty="0"/>
          </a:p>
          <a:p>
            <a:pPr marL="0" indent="0">
              <a:buNone/>
            </a:pPr>
            <a:r>
              <a:rPr lang="en-US" sz="1200" b="1" dirty="0"/>
              <a:t>Our Idea</a:t>
            </a:r>
            <a:endParaRPr lang="tr-TR" sz="12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Use drones with image analysis to check vegetation health quickly and accurately</a:t>
            </a:r>
            <a:endParaRPr lang="tr-TR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Turn complex data into simple visual maps that are easy to understand</a:t>
            </a:r>
            <a:endParaRPr lang="tr-TR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Let users see the results through a simple web-based interface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293926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E18C90-BC35-45C8-B4B0-947B095028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73953" y="1719058"/>
            <a:ext cx="4930028" cy="4255805"/>
          </a:xfrm>
        </p:spPr>
        <p:txBody>
          <a:bodyPr/>
          <a:lstStyle/>
          <a:p>
            <a:r>
              <a:rPr lang="en-US" b="1" dirty="0"/>
              <a:t>How We Start Selling </a:t>
            </a: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Pilot projects with small farms or test fields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a low-cost first flight to show clear value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results as proof for future customers</a:t>
            </a:r>
            <a:endParaRPr lang="tr-TR" dirty="0"/>
          </a:p>
          <a:p>
            <a:r>
              <a:rPr lang="en-US" b="1" dirty="0"/>
              <a:t>How We Make Money</a:t>
            </a: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Pay-per-flight for occasional monitoring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subscription (e.g. once per month during growing season)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Reports &amp; recommendations as an add-on</a:t>
            </a:r>
            <a:endParaRPr lang="tr-T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BBDDE-D1F2-4120-A68C-C86D73EDF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DE52B-38AE-4AB6-B313-2EF4EC617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C5BE8C-D406-44CC-B4EC-69B6DFB66F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76C21B-D489-4A33-B26D-0B1968D64FCB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/>
              <a:t>Business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B2A47E-4F57-4184-9179-328C3D9DE4F6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Who It’s For</a:t>
            </a: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Farmers who want to detect problems early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Agricultural companies managing large areas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Environmental and land-monitoring</a:t>
            </a:r>
            <a:r>
              <a:rPr lang="tr-TR" dirty="0"/>
              <a:t> </a:t>
            </a:r>
            <a:r>
              <a:rPr lang="en-US" dirty="0"/>
              <a:t>organizations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643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8C41E1-A432-4A08-8F75-18FE4E173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32FAE6-E234-46C2-88FC-261712FEF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F4884-44E3-44B4-AFCB-7A5183A5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4D5D4-6338-4319-856C-9236893EB471}"/>
              </a:ext>
            </a:extLst>
          </p:cNvPr>
          <p:cNvSpPr txBox="1"/>
          <p:nvPr/>
        </p:nvSpPr>
        <p:spPr>
          <a:xfrm>
            <a:off x="131619" y="1034563"/>
            <a:ext cx="38553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Data </a:t>
            </a:r>
            <a:r>
              <a:rPr lang="tr-TR" sz="2400" b="1" dirty="0" err="1"/>
              <a:t>Preparation</a:t>
            </a:r>
            <a:endParaRPr lang="tr-TR" sz="2400" b="1" dirty="0"/>
          </a:p>
          <a:p>
            <a:endParaRPr lang="tr-TR" dirty="0"/>
          </a:p>
          <a:p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Numpy</a:t>
            </a:r>
            <a:endParaRPr lang="tr-TR" sz="1400" dirty="0"/>
          </a:p>
          <a:p>
            <a:pPr algn="l"/>
            <a:r>
              <a:rPr lang="tr-TR" sz="1400" dirty="0"/>
              <a:t>	- </a:t>
            </a:r>
            <a:r>
              <a:rPr lang="tr-TR" sz="1400" dirty="0">
                <a:solidFill>
                  <a:srgbClr val="000000"/>
                </a:solidFill>
                <a:latin typeface="Aptos"/>
              </a:rPr>
              <a:t>E</a:t>
            </a:r>
            <a:r>
              <a:rPr lang="en-US" sz="1400" b="0" i="0" u="none" strike="noStrike" baseline="0" dirty="0" err="1">
                <a:solidFill>
                  <a:srgbClr val="000000"/>
                </a:solidFill>
                <a:latin typeface="Aptos"/>
              </a:rPr>
              <a:t>nables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Aptos"/>
              </a:rPr>
              <a:t>fast, efficient numerical computing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ptos"/>
              </a:rPr>
              <a:t>with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Aptos"/>
              </a:rPr>
              <a:t>multidimensional arrays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ptos"/>
              </a:rPr>
              <a:t>.</a:t>
            </a:r>
            <a:endParaRPr lang="tr-TR" sz="1400" b="0" i="0" u="none" strike="noStrike" baseline="0" dirty="0">
              <a:solidFill>
                <a:srgbClr val="000000"/>
              </a:solidFill>
              <a:latin typeface="Aptos"/>
            </a:endParaRPr>
          </a:p>
          <a:p>
            <a:pPr algn="l"/>
            <a:endParaRPr lang="tr-TR" sz="1400" b="0" i="0" u="none" strike="noStrike" baseline="0" dirty="0">
              <a:solidFill>
                <a:srgbClr val="000000"/>
              </a:solidFill>
              <a:latin typeface="Aptos"/>
            </a:endParaRPr>
          </a:p>
          <a:p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Pandas</a:t>
            </a:r>
            <a:br>
              <a:rPr lang="tr-TR" sz="1400" dirty="0"/>
            </a:br>
            <a:r>
              <a:rPr lang="tr-TR" sz="1400" dirty="0"/>
              <a:t>	- </a:t>
            </a:r>
            <a:r>
              <a:rPr lang="en-US" sz="1400" dirty="0"/>
              <a:t>Library for data-relevant tasks like </a:t>
            </a:r>
            <a:r>
              <a:rPr lang="en-US" sz="1400" b="1" dirty="0"/>
              <a:t>data preprocessing and transformation</a:t>
            </a:r>
            <a:br>
              <a:rPr lang="tr-TR" sz="1400" dirty="0"/>
            </a:br>
            <a:endParaRPr lang="tr-TR" sz="1400" dirty="0"/>
          </a:p>
        </p:txBody>
      </p:sp>
      <p:pic>
        <p:nvPicPr>
          <p:cNvPr id="1038" name="Picture 14" descr="NumPy - Press kit">
            <a:extLst>
              <a:ext uri="{FF2B5EF4-FFF2-40B4-BE49-F238E27FC236}">
                <a16:creationId xmlns:a16="http://schemas.microsoft.com/office/drawing/2014/main" id="{D4A9FCEB-EB97-4EB9-8A54-CF709869A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41" y="4664779"/>
            <a:ext cx="839185" cy="83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andas Icon, Logo and PNG Files for Your Projects">
            <a:extLst>
              <a:ext uri="{FF2B5EF4-FFF2-40B4-BE49-F238E27FC236}">
                <a16:creationId xmlns:a16="http://schemas.microsoft.com/office/drawing/2014/main" id="{0F405107-2D8A-4DBA-A451-0B849FD91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26" y="4700162"/>
            <a:ext cx="839184" cy="83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3519D3-96B9-47A1-A770-FC1DAF74F127}"/>
              </a:ext>
            </a:extLst>
          </p:cNvPr>
          <p:cNvSpPr txBox="1"/>
          <p:nvPr/>
        </p:nvSpPr>
        <p:spPr>
          <a:xfrm>
            <a:off x="7617832" y="1034563"/>
            <a:ext cx="431214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err="1"/>
              <a:t>Modeling</a:t>
            </a:r>
            <a:endParaRPr lang="tr-TR" sz="2400" b="1" dirty="0"/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Opencv</a:t>
            </a:r>
            <a:br>
              <a:rPr lang="tr-TR" sz="1400" dirty="0"/>
            </a:br>
            <a:r>
              <a:rPr lang="tr-TR" sz="1400" dirty="0"/>
              <a:t>	- L</a:t>
            </a:r>
            <a:r>
              <a:rPr lang="en-US" sz="1400" dirty="0" err="1"/>
              <a:t>ibrary</a:t>
            </a:r>
            <a:r>
              <a:rPr lang="en-US" sz="1400" dirty="0"/>
              <a:t> of Python bindings designed to </a:t>
            </a:r>
            <a:r>
              <a:rPr lang="en-US" sz="1400" b="1" dirty="0"/>
              <a:t>solve computer vision problems</a:t>
            </a: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Scikit-learn</a:t>
            </a:r>
            <a:endParaRPr lang="tr-TR" sz="1400" dirty="0"/>
          </a:p>
          <a:p>
            <a:r>
              <a:rPr lang="tr-TR" sz="1400" dirty="0"/>
              <a:t>	- O</a:t>
            </a:r>
            <a:r>
              <a:rPr lang="en-US" sz="1400" dirty="0"/>
              <a:t>pen source machine learning library that supports </a:t>
            </a:r>
            <a:r>
              <a:rPr lang="en-US" sz="1400" b="1" dirty="0"/>
              <a:t>supervised and unsupervised learning</a:t>
            </a:r>
            <a:endParaRPr lang="tr-TR" sz="1400" b="1" dirty="0"/>
          </a:p>
          <a:p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Joblib</a:t>
            </a:r>
            <a:endParaRPr lang="tr-TR" sz="1400" dirty="0"/>
          </a:p>
          <a:p>
            <a:r>
              <a:rPr lang="tr-TR" sz="1400" dirty="0"/>
              <a:t>	- O</a:t>
            </a:r>
            <a:r>
              <a:rPr lang="en-US" sz="1400" dirty="0"/>
              <a:t>pen-source library for the Python programming language that facilitates </a:t>
            </a:r>
            <a:r>
              <a:rPr lang="en-US" sz="1400" b="1" dirty="0"/>
              <a:t>parallel processing, result caching and task distribution</a:t>
            </a:r>
            <a:endParaRPr lang="tr-TR" sz="1400" b="1" dirty="0"/>
          </a:p>
          <a:p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Matplotlib</a:t>
            </a:r>
            <a:br>
              <a:rPr lang="tr-TR" sz="1400" dirty="0"/>
            </a:br>
            <a:r>
              <a:rPr lang="tr-TR" sz="1400" dirty="0"/>
              <a:t>	- </a:t>
            </a:r>
            <a:r>
              <a:rPr lang="en-US" sz="1400" dirty="0"/>
              <a:t>Library for </a:t>
            </a:r>
            <a:r>
              <a:rPr lang="en-US" sz="1400" b="1" dirty="0"/>
              <a:t>visualization of data</a:t>
            </a: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FCBA8-8DE7-44FD-B8BC-4D33EFB95023}"/>
              </a:ext>
            </a:extLst>
          </p:cNvPr>
          <p:cNvSpPr txBox="1"/>
          <p:nvPr/>
        </p:nvSpPr>
        <p:spPr>
          <a:xfrm>
            <a:off x="3987011" y="1034563"/>
            <a:ext cx="356451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Utilities</a:t>
            </a:r>
          </a:p>
          <a:p>
            <a:endParaRPr lang="tr-T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Folium</a:t>
            </a:r>
            <a:br>
              <a:rPr lang="tr-TR" sz="1400" dirty="0"/>
            </a:br>
            <a:r>
              <a:rPr lang="tr-TR" sz="1400" dirty="0"/>
              <a:t>	- L</a:t>
            </a:r>
            <a:r>
              <a:rPr lang="en-US" sz="1400" dirty="0" err="1"/>
              <a:t>ibrary</a:t>
            </a:r>
            <a:r>
              <a:rPr lang="en-US" sz="1400" dirty="0"/>
              <a:t> that helps you create several types of </a:t>
            </a:r>
            <a:r>
              <a:rPr lang="en-US" sz="1400" b="1" dirty="0"/>
              <a:t>Leaflet maps</a:t>
            </a: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Branca</a:t>
            </a:r>
            <a:br>
              <a:rPr lang="tr-TR" sz="1400" dirty="0"/>
            </a:br>
            <a:r>
              <a:rPr lang="tr-TR" sz="1400" dirty="0"/>
              <a:t>	- L</a:t>
            </a:r>
            <a:r>
              <a:rPr lang="en-US" sz="1400" dirty="0" err="1"/>
              <a:t>ightweight</a:t>
            </a:r>
            <a:r>
              <a:rPr lang="en-US" sz="1400" dirty="0"/>
              <a:t> Python library for </a:t>
            </a:r>
            <a:r>
              <a:rPr lang="en-US" sz="1400" b="1" dirty="0"/>
              <a:t>generating HTML + JS pages</a:t>
            </a: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Nginx</a:t>
            </a:r>
            <a:br>
              <a:rPr lang="tr-TR" sz="1400" dirty="0"/>
            </a:br>
            <a:r>
              <a:rPr lang="tr-TR" sz="1400" dirty="0"/>
              <a:t>	- O</a:t>
            </a:r>
            <a:r>
              <a:rPr lang="en-US" sz="1400" dirty="0"/>
              <a:t>pen-source web server software used for </a:t>
            </a:r>
            <a:r>
              <a:rPr lang="en-US" sz="1400" b="1" dirty="0"/>
              <a:t>rev</a:t>
            </a:r>
            <a:r>
              <a:rPr lang="tr-TR" sz="1400" b="1" dirty="0"/>
              <a:t>e</a:t>
            </a:r>
            <a:r>
              <a:rPr lang="en-US" sz="1400" b="1" dirty="0" err="1"/>
              <a:t>rse</a:t>
            </a:r>
            <a:r>
              <a:rPr lang="en-US" sz="1400" b="1" dirty="0"/>
              <a:t> proxy, load balancing, and caching</a:t>
            </a: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PyAv</a:t>
            </a:r>
            <a:br>
              <a:rPr lang="tr-TR" sz="1400" dirty="0"/>
            </a:br>
            <a:r>
              <a:rPr lang="tr-TR" sz="1400" dirty="0"/>
              <a:t>	- </a:t>
            </a:r>
            <a:r>
              <a:rPr lang="tr-TR" sz="1400" dirty="0" err="1"/>
              <a:t>Pythonic</a:t>
            </a:r>
            <a:r>
              <a:rPr lang="tr-TR" sz="1400" dirty="0"/>
              <a:t> </a:t>
            </a:r>
            <a:r>
              <a:rPr lang="tr-TR" sz="1400" dirty="0" err="1"/>
              <a:t>binding</a:t>
            </a:r>
            <a:r>
              <a:rPr lang="tr-TR" sz="1400" dirty="0"/>
              <a:t> </a:t>
            </a:r>
            <a:r>
              <a:rPr lang="tr-TR" sz="1400" dirty="0" err="1"/>
              <a:t>for</a:t>
            </a:r>
            <a:r>
              <a:rPr lang="tr-TR" sz="1400" dirty="0"/>
              <a:t> </a:t>
            </a:r>
            <a:r>
              <a:rPr lang="tr-TR" sz="1400" b="1" dirty="0" err="1"/>
              <a:t>FFmpeg</a:t>
            </a:r>
            <a:endParaRPr lang="tr-TR" sz="1400" b="1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1042" name="Picture 18" descr="Folium: Bridging Python and Interactive Mapping | by Everton Gomede, PhD |  Python in Plain English">
            <a:extLst>
              <a:ext uri="{FF2B5EF4-FFF2-40B4-BE49-F238E27FC236}">
                <a16:creationId xmlns:a16="http://schemas.microsoft.com/office/drawing/2014/main" id="{8A9AF3D2-F5F5-4625-A4A9-D023F271C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344" y="5129212"/>
            <a:ext cx="1664512" cy="567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Nginx Logo Icon Free - SVG, PNG Download oder Code kopieren | IconScout">
            <a:extLst>
              <a:ext uri="{FF2B5EF4-FFF2-40B4-BE49-F238E27FC236}">
                <a16:creationId xmlns:a16="http://schemas.microsoft.com/office/drawing/2014/main" id="{6A9BF5C9-C56D-4783-A3C4-47C60A5AE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08" y="5810287"/>
            <a:ext cx="967438" cy="96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PyAV · GitHub">
            <a:extLst>
              <a:ext uri="{FF2B5EF4-FFF2-40B4-BE49-F238E27FC236}">
                <a16:creationId xmlns:a16="http://schemas.microsoft.com/office/drawing/2014/main" id="{8D5F8979-D0B0-41B3-B6D6-2E0F77E33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257" y="5129212"/>
            <a:ext cx="718646" cy="71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Opencv logo - Free Icon PNG, SVG">
            <a:extLst>
              <a:ext uri="{FF2B5EF4-FFF2-40B4-BE49-F238E27FC236}">
                <a16:creationId xmlns:a16="http://schemas.microsoft.com/office/drawing/2014/main" id="{7C9613FC-4D65-4C4A-81F2-2C51040F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395" y="5355529"/>
            <a:ext cx="797527" cy="79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F7B8FF-747A-42D0-A317-3D2EF98C57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7413" y="5442696"/>
            <a:ext cx="1330036" cy="710360"/>
          </a:xfrm>
          <a:prstGeom prst="rect">
            <a:avLst/>
          </a:prstGeom>
        </p:spPr>
      </p:pic>
      <p:pic>
        <p:nvPicPr>
          <p:cNvPr id="1050" name="Picture 26" descr="Fonts in Joblib logo are not rendered correctly on non Linux systems ·  Issue #770 · joblib/joblib">
            <a:extLst>
              <a:ext uri="{FF2B5EF4-FFF2-40B4-BE49-F238E27FC236}">
                <a16:creationId xmlns:a16="http://schemas.microsoft.com/office/drawing/2014/main" id="{58073623-60D2-4C58-AE55-9D7281DB3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406" y="5442696"/>
            <a:ext cx="747790" cy="65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AE049B16-27CE-4B42-A60D-407AD0290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61" y="5381918"/>
            <a:ext cx="689616" cy="68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8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132FB6-B625-6447-9FCC-4FB309BFB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26D3D067-4D3F-624F-A625-808A7281AB56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 err="1">
                <a:latin typeface="+mj-lt"/>
              </a:rPr>
              <a:t>Overview</a:t>
            </a:r>
            <a:endParaRPr lang="de-DE" dirty="0">
              <a:latin typeface="+mj-lt"/>
            </a:endParaRPr>
          </a:p>
        </p:txBody>
      </p:sp>
      <p:sp>
        <p:nvSpPr>
          <p:cNvPr id="13" name="Inhaltsplatzhalter 6">
            <a:extLst>
              <a:ext uri="{FF2B5EF4-FFF2-40B4-BE49-F238E27FC236}">
                <a16:creationId xmlns:a16="http://schemas.microsoft.com/office/drawing/2014/main" id="{F81E4E75-9BDB-FB42-B625-1EFC4FCD0C5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837942" y="2541726"/>
            <a:ext cx="5238025" cy="357812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de-DE" dirty="0"/>
              <a:t>This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a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generating</a:t>
            </a:r>
            <a:r>
              <a:rPr lang="de-DE" dirty="0"/>
              <a:t> </a:t>
            </a:r>
            <a:r>
              <a:rPr lang="de-DE" b="1" dirty="0"/>
              <a:t>Vegetation Health Maps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drone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</a:t>
            </a:r>
            <a:r>
              <a:rPr lang="de-DE" dirty="0" err="1"/>
              <a:t>footage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processes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and SRT </a:t>
            </a:r>
            <a:r>
              <a:rPr lang="de-DE" dirty="0" err="1"/>
              <a:t>metadata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health</a:t>
            </a:r>
            <a:r>
              <a:rPr lang="de-DE" dirty="0"/>
              <a:t> </a:t>
            </a:r>
            <a:r>
              <a:rPr lang="de-DE" dirty="0" err="1"/>
              <a:t>indices</a:t>
            </a:r>
            <a:r>
              <a:rPr lang="de-DE" dirty="0"/>
              <a:t> (like VARI, </a:t>
            </a:r>
            <a:r>
              <a:rPr lang="de-DE" dirty="0" err="1"/>
              <a:t>ExG</a:t>
            </a:r>
            <a:r>
              <a:rPr lang="de-DE" dirty="0"/>
              <a:t>, TGI)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b="1" dirty="0" err="1"/>
              <a:t>Pixelwise</a:t>
            </a:r>
            <a:r>
              <a:rPr lang="de-DE" b="1" dirty="0"/>
              <a:t> </a:t>
            </a:r>
            <a:r>
              <a:rPr lang="de-DE" b="1" dirty="0" err="1"/>
              <a:t>Machine</a:t>
            </a:r>
            <a:r>
              <a:rPr lang="de-DE" b="1" dirty="0"/>
              <a:t> Learning Model </a:t>
            </a:r>
            <a:r>
              <a:rPr lang="de-DE" dirty="0"/>
              <a:t>(</a:t>
            </a:r>
            <a:r>
              <a:rPr lang="de-DE" dirty="0" err="1"/>
              <a:t>SGDClassifier</a:t>
            </a:r>
            <a:r>
              <a:rPr lang="de-DE" dirty="0"/>
              <a:t>).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B70EF0-6CB5-4979-98F0-78C87C93B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6</a:t>
            </a:fld>
            <a:endParaRPr lang="de-DE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65FBAF-7F96-4A22-B877-DDB3FEE89AA2}"/>
              </a:ext>
            </a:extLst>
          </p:cNvPr>
          <p:cNvGrpSpPr/>
          <p:nvPr/>
        </p:nvGrpSpPr>
        <p:grpSpPr>
          <a:xfrm>
            <a:off x="7597722" y="1254600"/>
            <a:ext cx="4348800" cy="4348800"/>
            <a:chOff x="7597722" y="1254600"/>
            <a:chExt cx="4348800" cy="4348800"/>
          </a:xfrm>
        </p:grpSpPr>
        <p:pic>
          <p:nvPicPr>
            <p:cNvPr id="16" name="Graphic 15" descr="Remote learning science with solid fill">
              <a:extLst>
                <a:ext uri="{FF2B5EF4-FFF2-40B4-BE49-F238E27FC236}">
                  <a16:creationId xmlns:a16="http://schemas.microsoft.com/office/drawing/2014/main" id="{60E8B587-26C4-4ABF-90D3-26DCA053C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97722" y="1254600"/>
              <a:ext cx="4348800" cy="4348800"/>
            </a:xfrm>
            <a:prstGeom prst="rect">
              <a:avLst/>
            </a:prstGeom>
          </p:spPr>
        </p:pic>
        <p:pic>
          <p:nvPicPr>
            <p:cNvPr id="18" name="Graphic 17" descr="Bug with solid fill">
              <a:extLst>
                <a:ext uri="{FF2B5EF4-FFF2-40B4-BE49-F238E27FC236}">
                  <a16:creationId xmlns:a16="http://schemas.microsoft.com/office/drawing/2014/main" id="{0A9CA1EC-B963-4B82-9E4C-3F5D73EA7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38565" y="3516795"/>
              <a:ext cx="545131" cy="545131"/>
            </a:xfrm>
            <a:prstGeom prst="rect">
              <a:avLst/>
            </a:prstGeom>
          </p:spPr>
        </p:pic>
        <p:pic>
          <p:nvPicPr>
            <p:cNvPr id="20" name="Graphic 19" descr="Deciduous tree with solid fill">
              <a:extLst>
                <a:ext uri="{FF2B5EF4-FFF2-40B4-BE49-F238E27FC236}">
                  <a16:creationId xmlns:a16="http://schemas.microsoft.com/office/drawing/2014/main" id="{87CDA727-5E9E-4B1C-9C1D-DC73ECB3B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63794" y="3516796"/>
              <a:ext cx="545131" cy="545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67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1CD16-80EE-4CCD-8ABC-17D49E52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67" y="1979065"/>
            <a:ext cx="6128445" cy="4131344"/>
          </a:xfrm>
          <a:prstGeom prst="rect">
            <a:avLst/>
          </a:prstGeom>
        </p:spPr>
      </p:pic>
      <p:sp>
        <p:nvSpPr>
          <p:cNvPr id="19" name="Textplatzhalter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457200" lvl="1" indent="0">
              <a:buNone/>
            </a:pP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0B6C92-D144-634A-A672-9A20C4F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Berkay Gök</a:t>
            </a:r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D5E5FCED-40AE-0F4D-9648-D088938BFAA4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de-DE" dirty="0"/>
              <a:t>System Architecture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269F81A-87C8-41E3-A9E8-71492D8C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5" name="Picture 4" descr="A diagram of a program&#10;&#10;AI-generated content may be incorrect.">
            <a:extLst>
              <a:ext uri="{FF2B5EF4-FFF2-40B4-BE49-F238E27FC236}">
                <a16:creationId xmlns:a16="http://schemas.microsoft.com/office/drawing/2014/main" id="{1BC69B35-E1EE-47D8-BD34-38B9B843E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106" y="1979065"/>
            <a:ext cx="5543880" cy="41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8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9C725A-B879-6B4D-885E-AC5A0FFB6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Berkay Gök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8A0CC9C2-28B9-B344-B27A-6FD439C9E6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885709" y="55830"/>
            <a:ext cx="5940102" cy="1095719"/>
          </a:xfrm>
        </p:spPr>
        <p:txBody>
          <a:bodyPr/>
          <a:lstStyle/>
          <a:p>
            <a:r>
              <a:rPr lang="de-DE" sz="2000" dirty="0">
                <a:latin typeface="+mj-lt"/>
              </a:rPr>
              <a:t>Project </a:t>
            </a:r>
            <a:r>
              <a:rPr lang="de-DE" sz="2000" dirty="0" err="1">
                <a:latin typeface="+mj-lt"/>
              </a:rPr>
              <a:t>Structure</a:t>
            </a:r>
            <a:endParaRPr lang="de-DE" sz="2000" dirty="0">
              <a:latin typeface="+mj-lt"/>
            </a:endParaRPr>
          </a:p>
        </p:txBody>
      </p:sp>
      <p:sp>
        <p:nvSpPr>
          <p:cNvPr id="18" name="Inhaltsplatzhalter 9">
            <a:extLst>
              <a:ext uri="{FF2B5EF4-FFF2-40B4-BE49-F238E27FC236}">
                <a16:creationId xmlns:a16="http://schemas.microsoft.com/office/drawing/2014/main" id="{6831C458-99B3-E649-BA87-FF1064AEF9B3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828329" y="461963"/>
            <a:ext cx="5536990" cy="4182958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workspace is organized modularly:</a:t>
            </a:r>
            <a:endParaRPr lang="tr-TR" dirty="0"/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main.py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 err="1"/>
              <a:t>maps</a:t>
            </a:r>
            <a:r>
              <a:rPr lang="tr-TR" dirty="0"/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</a:rPr>
              <a:t>analytical_map</a:t>
            </a:r>
            <a:endParaRPr lang="tr-TR" sz="15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</a:rPr>
              <a:t>flight_map</a:t>
            </a:r>
            <a:endParaRPr lang="tr-TR" sz="1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dirty="0" err="1"/>
              <a:t>datasets</a:t>
            </a:r>
            <a:r>
              <a:rPr lang="tr-TR" dirty="0"/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>
                <a:solidFill>
                  <a:schemeClr val="tx1"/>
                </a:solidFill>
                <a:latin typeface="+mj-lt"/>
              </a:rPr>
              <a:t>PlantVillage/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DatasetDrone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Flights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/>
            <a:endParaRPr lang="tr-TR" sz="1500" dirty="0">
              <a:solidFill>
                <a:schemeClr val="tx1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dirty="0" err="1"/>
              <a:t>src</a:t>
            </a:r>
            <a:r>
              <a:rPr lang="tr-TR" dirty="0"/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ingestions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models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processing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visualization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data/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models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processed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marL="0" indent="0">
              <a:buNone/>
            </a:pPr>
            <a:endParaRPr lang="tr-TR" dirty="0">
              <a:solidFill>
                <a:schemeClr val="tx1"/>
              </a:solidFill>
              <a:latin typeface="+mj-lt"/>
            </a:endParaRPr>
          </a:p>
          <a:p>
            <a:pPr lvl="1"/>
            <a:endParaRPr lang="tr-TR" sz="1500" dirty="0">
              <a:solidFill>
                <a:schemeClr val="tx1"/>
              </a:solidFill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tr-TR" sz="200" dirty="0">
              <a:solidFill>
                <a:schemeClr val="tx1"/>
              </a:solidFill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tr-TR" sz="15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endParaRPr lang="de-DE" sz="200" dirty="0">
              <a:latin typeface="+mj-lt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100" name="Picture 4" descr="Top project Deals Project Plan Guide 6 Steps to Foolproof Project Planning  Wrike | jundado.de">
            <a:extLst>
              <a:ext uri="{FF2B5EF4-FFF2-40B4-BE49-F238E27FC236}">
                <a16:creationId xmlns:a16="http://schemas.microsoft.com/office/drawing/2014/main" id="{73381555-D683-4315-8E4E-A24E9389F61B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093" y="2099359"/>
            <a:ext cx="5462601" cy="305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D008EE-68AD-42D7-BCB5-179D5C09BFE6}"/>
              </a:ext>
            </a:extLst>
          </p:cNvPr>
          <p:cNvSpPr/>
          <p:nvPr/>
        </p:nvSpPr>
        <p:spPr>
          <a:xfrm>
            <a:off x="4141381" y="1807535"/>
            <a:ext cx="851865" cy="4944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570744F-1284-4CB8-A671-FD7C67DD5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294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DFDA51-DEB4-4B07-8CDD-BE9BA21761A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318805" y="306890"/>
            <a:ext cx="7274453" cy="5370897"/>
          </a:xfrm>
        </p:spPr>
        <p:txBody>
          <a:bodyPr>
            <a:normAutofit/>
          </a:bodyPr>
          <a:lstStyle/>
          <a:p>
            <a:r>
              <a:rPr lang="en-US" sz="1400" dirty="0"/>
              <a:t>You can run the entire pipeline or individual steps using </a:t>
            </a:r>
            <a:r>
              <a:rPr lang="en-US" sz="1400" b="1" i="1" dirty="0"/>
              <a:t>main.py</a:t>
            </a:r>
            <a:r>
              <a:rPr lang="en-US" sz="1400" dirty="0"/>
              <a:t>.</a:t>
            </a:r>
            <a:endParaRPr lang="tr-TR" sz="1400" dirty="0"/>
          </a:p>
          <a:p>
            <a:pPr marL="342900" indent="-342900">
              <a:buFont typeface="+mj-lt"/>
              <a:buAutoNum type="arabicPeriod"/>
            </a:pPr>
            <a:r>
              <a:rPr lang="tr-TR" sz="1400" dirty="0"/>
              <a:t>Run Full </a:t>
            </a:r>
            <a:r>
              <a:rPr lang="tr-TR" sz="1400" dirty="0" err="1"/>
              <a:t>Pipeline</a:t>
            </a:r>
            <a:br>
              <a:rPr lang="tr-TR" sz="1400" dirty="0"/>
            </a:b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process</a:t>
            </a:r>
            <a:r>
              <a:rPr lang="tr-TR" sz="1400" dirty="0"/>
              <a:t> </a:t>
            </a:r>
            <a:r>
              <a:rPr lang="tr-TR" sz="1400" dirty="0" err="1"/>
              <a:t>all</a:t>
            </a:r>
            <a:r>
              <a:rPr lang="tr-TR" sz="1400" dirty="0"/>
              <a:t> </a:t>
            </a:r>
            <a:r>
              <a:rPr lang="tr-TR" sz="1400" dirty="0" err="1"/>
              <a:t>flight</a:t>
            </a:r>
            <a:r>
              <a:rPr lang="tr-TR" sz="1400" dirty="0"/>
              <a:t> data </a:t>
            </a:r>
            <a:r>
              <a:rPr lang="tr-TR" sz="1400" dirty="0" err="1"/>
              <a:t>found</a:t>
            </a:r>
            <a:r>
              <a:rPr lang="tr-TR" sz="1400" dirty="0"/>
              <a:t> in </a:t>
            </a:r>
            <a:r>
              <a:rPr lang="tr-TR" sz="1400" dirty="0" err="1"/>
              <a:t>datasets</a:t>
            </a:r>
            <a:r>
              <a:rPr lang="tr-TR" sz="1400" dirty="0"/>
              <a:t>/</a:t>
            </a:r>
            <a:r>
              <a:rPr lang="tr-TR" sz="1400" dirty="0" err="1"/>
              <a:t>flights</a:t>
            </a:r>
            <a:r>
              <a:rPr lang="tr-TR" sz="1400" dirty="0"/>
              <a:t>/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generate</a:t>
            </a:r>
            <a:r>
              <a:rPr lang="tr-TR" sz="1400" dirty="0"/>
              <a:t> </a:t>
            </a:r>
            <a:r>
              <a:rPr lang="tr-TR" sz="1400" dirty="0" err="1"/>
              <a:t>maps</a:t>
            </a:r>
            <a:r>
              <a:rPr lang="tr-TR" sz="1400" dirty="0"/>
              <a:t>:</a:t>
            </a:r>
            <a:br>
              <a:rPr lang="tr-TR" sz="1400" dirty="0"/>
            </a:br>
            <a:br>
              <a:rPr lang="tr-TR" sz="1400" dirty="0"/>
            </a:br>
            <a:endParaRPr lang="tr-TR" sz="1400" dirty="0"/>
          </a:p>
          <a:p>
            <a:pPr marL="342900" indent="-342900">
              <a:buFont typeface="+mj-lt"/>
              <a:buAutoNum type="arabicPeriod"/>
            </a:pPr>
            <a:r>
              <a:rPr lang="tr-TR" sz="1400" dirty="0" err="1"/>
              <a:t>Individual</a:t>
            </a:r>
            <a:r>
              <a:rPr lang="tr-TR" sz="1400" dirty="0"/>
              <a:t> </a:t>
            </a:r>
            <a:r>
              <a:rPr lang="tr-TR" sz="1400" dirty="0" err="1"/>
              <a:t>Steps</a:t>
            </a:r>
            <a:endParaRPr lang="tr-TR" sz="1400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/>
              <a:t>Train Model (</a:t>
            </a:r>
            <a:r>
              <a:rPr lang="tr-TR" sz="1400" dirty="0" err="1"/>
              <a:t>if</a:t>
            </a:r>
            <a:r>
              <a:rPr lang="tr-TR" sz="1400" dirty="0"/>
              <a:t> </a:t>
            </a:r>
            <a:r>
              <a:rPr lang="tr-TR" sz="1400" dirty="0" err="1"/>
              <a:t>needed</a:t>
            </a:r>
            <a:r>
              <a:rPr lang="tr-TR" sz="1400" dirty="0"/>
              <a:t>)</a:t>
            </a:r>
            <a:br>
              <a:rPr lang="tr-TR" sz="1400" dirty="0"/>
            </a:br>
            <a:br>
              <a:rPr lang="tr-TR" sz="1400" dirty="0"/>
            </a:br>
            <a:br>
              <a:rPr lang="tr-TR" sz="1400" dirty="0"/>
            </a:br>
            <a:r>
              <a:rPr lang="tr-TR" sz="1400" i="1" dirty="0" err="1"/>
              <a:t>Trains</a:t>
            </a:r>
            <a:r>
              <a:rPr lang="tr-TR" sz="1400" i="1" dirty="0"/>
              <a:t> </a:t>
            </a:r>
            <a:r>
              <a:rPr lang="tr-TR" sz="1400" i="1" dirty="0" err="1"/>
              <a:t>the</a:t>
            </a:r>
            <a:r>
              <a:rPr lang="tr-TR" sz="1400" i="1" dirty="0"/>
              <a:t> </a:t>
            </a:r>
            <a:r>
              <a:rPr lang="tr-TR" sz="1400" i="1" dirty="0" err="1"/>
              <a:t>SGDClassifier</a:t>
            </a:r>
            <a:r>
              <a:rPr lang="tr-TR" sz="1400" i="1" dirty="0"/>
              <a:t> </a:t>
            </a:r>
            <a:r>
              <a:rPr lang="tr-TR" sz="1400" i="1" dirty="0" err="1"/>
              <a:t>using</a:t>
            </a:r>
            <a:r>
              <a:rPr lang="tr-TR" sz="1400" i="1" dirty="0"/>
              <a:t> PlantVillage </a:t>
            </a:r>
            <a:r>
              <a:rPr lang="tr-TR" sz="1400" i="1" dirty="0" err="1"/>
              <a:t>and</a:t>
            </a:r>
            <a:r>
              <a:rPr lang="tr-TR" sz="1400" i="1" dirty="0"/>
              <a:t> </a:t>
            </a:r>
            <a:r>
              <a:rPr lang="tr-TR" sz="1400" i="1" dirty="0" err="1"/>
              <a:t>Drone</a:t>
            </a:r>
            <a:r>
              <a:rPr lang="tr-TR" sz="1400" i="1" dirty="0"/>
              <a:t> </a:t>
            </a:r>
            <a:r>
              <a:rPr lang="tr-TR" sz="1400" i="1" dirty="0" err="1"/>
              <a:t>date</a:t>
            </a:r>
            <a:endParaRPr lang="tr-TR" sz="1400" i="1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 err="1"/>
              <a:t>Extract</a:t>
            </a:r>
            <a:r>
              <a:rPr lang="tr-TR" sz="1400" dirty="0"/>
              <a:t> </a:t>
            </a:r>
            <a:r>
              <a:rPr lang="tr-TR" sz="1400" dirty="0" err="1"/>
              <a:t>Metadata</a:t>
            </a:r>
            <a:br>
              <a:rPr lang="tr-TR" sz="1400" dirty="0"/>
            </a:br>
            <a:br>
              <a:rPr lang="tr-TR" sz="1400" dirty="0"/>
            </a:br>
            <a:r>
              <a:rPr lang="tr-TR" sz="1400" i="1" dirty="0" err="1"/>
              <a:t>Parses</a:t>
            </a:r>
            <a:r>
              <a:rPr lang="tr-TR" sz="1400" i="1" dirty="0"/>
              <a:t> .</a:t>
            </a:r>
            <a:r>
              <a:rPr lang="tr-TR" sz="1400" i="1" dirty="0" err="1"/>
              <a:t>srt</a:t>
            </a:r>
            <a:r>
              <a:rPr lang="tr-TR" sz="1400" i="1" dirty="0"/>
              <a:t> </a:t>
            </a:r>
            <a:r>
              <a:rPr lang="tr-TR" sz="1400" i="1" dirty="0" err="1"/>
              <a:t>files</a:t>
            </a:r>
            <a:r>
              <a:rPr lang="tr-TR" sz="1400" i="1" dirty="0"/>
              <a:t> </a:t>
            </a:r>
            <a:r>
              <a:rPr lang="tr-TR" sz="1400" i="1" dirty="0" err="1"/>
              <a:t>from</a:t>
            </a:r>
            <a:r>
              <a:rPr lang="tr-TR" sz="1400" i="1" dirty="0"/>
              <a:t> </a:t>
            </a:r>
            <a:r>
              <a:rPr lang="tr-TR" sz="1400" i="1" dirty="0" err="1"/>
              <a:t>datasets</a:t>
            </a:r>
            <a:r>
              <a:rPr lang="tr-TR" sz="1400" i="1" dirty="0"/>
              <a:t>/</a:t>
            </a:r>
            <a:r>
              <a:rPr lang="tr-TR" sz="1400" i="1" dirty="0" err="1"/>
              <a:t>flights</a:t>
            </a:r>
            <a:r>
              <a:rPr lang="tr-TR" sz="1400" i="1" dirty="0"/>
              <a:t>/ </a:t>
            </a:r>
            <a:r>
              <a:rPr lang="tr-TR" sz="1400" i="1" dirty="0" err="1"/>
              <a:t>into</a:t>
            </a:r>
            <a:r>
              <a:rPr lang="tr-TR" sz="1400" i="1" dirty="0"/>
              <a:t> </a:t>
            </a:r>
            <a:r>
              <a:rPr lang="tr-TR" sz="1400" i="1" dirty="0" err="1"/>
              <a:t>CSVs</a:t>
            </a:r>
            <a:r>
              <a:rPr lang="tr-TR" sz="1400" i="1" dirty="0"/>
              <a:t> in data/</a:t>
            </a:r>
            <a:r>
              <a:rPr lang="tr-TR" sz="1400" i="1" dirty="0" err="1"/>
              <a:t>processed</a:t>
            </a:r>
            <a:r>
              <a:rPr lang="tr-TR" sz="1400" i="1" dirty="0"/>
              <a:t>/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 err="1"/>
              <a:t>Calculate</a:t>
            </a:r>
            <a:r>
              <a:rPr lang="tr-TR" sz="1400" dirty="0"/>
              <a:t> </a:t>
            </a:r>
            <a:r>
              <a:rPr lang="tr-TR" sz="1400" dirty="0" err="1"/>
              <a:t>Health</a:t>
            </a:r>
            <a:r>
              <a:rPr lang="tr-TR" sz="1400" dirty="0"/>
              <a:t> (</a:t>
            </a:r>
            <a:r>
              <a:rPr lang="tr-TR" sz="1400" dirty="0" err="1"/>
              <a:t>Sync</a:t>
            </a:r>
            <a:r>
              <a:rPr lang="tr-TR" sz="1400" dirty="0"/>
              <a:t>)</a:t>
            </a:r>
            <a:br>
              <a:rPr lang="tr-TR" sz="1400" dirty="0"/>
            </a:br>
            <a:br>
              <a:rPr lang="tr-TR" sz="1400" dirty="0"/>
            </a:br>
            <a:br>
              <a:rPr lang="tr-TR" sz="1400" dirty="0"/>
            </a:br>
            <a:r>
              <a:rPr lang="tr-TR" sz="1400" i="1" dirty="0" err="1"/>
              <a:t>Applies</a:t>
            </a:r>
            <a:r>
              <a:rPr lang="tr-TR" sz="1400" i="1" dirty="0"/>
              <a:t> </a:t>
            </a:r>
            <a:r>
              <a:rPr lang="tr-TR" sz="1400" i="1" dirty="0" err="1"/>
              <a:t>the</a:t>
            </a:r>
            <a:r>
              <a:rPr lang="tr-TR" sz="1400" i="1" dirty="0"/>
              <a:t> </a:t>
            </a:r>
            <a:r>
              <a:rPr lang="tr-TR" sz="1400" i="1" dirty="0" err="1"/>
              <a:t>trained</a:t>
            </a:r>
            <a:r>
              <a:rPr lang="tr-TR" sz="1400" i="1" dirty="0"/>
              <a:t> model </a:t>
            </a:r>
            <a:r>
              <a:rPr lang="tr-TR" sz="1400" i="1" dirty="0" err="1"/>
              <a:t>to</a:t>
            </a:r>
            <a:r>
              <a:rPr lang="tr-TR" sz="1400" i="1" dirty="0"/>
              <a:t> video </a:t>
            </a:r>
            <a:r>
              <a:rPr lang="tr-TR" sz="1400" i="1" dirty="0" err="1"/>
              <a:t>frames,adding</a:t>
            </a:r>
            <a:r>
              <a:rPr lang="tr-TR" sz="1400" i="1" dirty="0"/>
              <a:t> </a:t>
            </a:r>
            <a:r>
              <a:rPr lang="tr-TR" sz="1400" i="1" dirty="0" err="1"/>
              <a:t>health</a:t>
            </a:r>
            <a:r>
              <a:rPr lang="tr-TR" sz="1400" i="1" dirty="0"/>
              <a:t> </a:t>
            </a:r>
            <a:r>
              <a:rPr lang="tr-TR" sz="1400" i="1" dirty="0" err="1"/>
              <a:t>indices</a:t>
            </a:r>
            <a:br>
              <a:rPr lang="tr-TR" sz="1400" dirty="0"/>
            </a:br>
            <a:endParaRPr lang="tr-TR" sz="1400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 err="1"/>
              <a:t>Generate</a:t>
            </a:r>
            <a:r>
              <a:rPr lang="tr-TR" sz="1400" dirty="0"/>
              <a:t> </a:t>
            </a:r>
            <a:r>
              <a:rPr lang="tr-TR" sz="1400" dirty="0" err="1"/>
              <a:t>Maps</a:t>
            </a:r>
            <a:br>
              <a:rPr lang="tr-TR" sz="1400" dirty="0"/>
            </a:br>
            <a:br>
              <a:rPr lang="tr-TR" sz="1400" dirty="0"/>
            </a:br>
            <a:r>
              <a:rPr lang="tr-TR" sz="1400" dirty="0"/>
              <a:t>                                     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#Generates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flight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path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map</a:t>
            </a:r>
            <a:br>
              <a:rPr lang="tr-TR" sz="11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                                               #Generates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health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heatmap</a:t>
            </a:r>
            <a:endParaRPr lang="tr-TR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D9358-A4D5-40EE-9A8E-4CAEDC5BD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EF749-59B4-4ED6-B250-8DAA91117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7D0506-4055-4DFA-BD8E-AD576833E7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3E92FE-3A6E-47A0-B1A3-A4160354B0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3B8229-6EB9-4587-A161-33919020C40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48691" y="2992941"/>
            <a:ext cx="5163075" cy="3081072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Environment: Ensure you are using the project's virtual environment.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 err="1"/>
              <a:t>Dependencies</a:t>
            </a:r>
            <a:r>
              <a:rPr lang="tr-TR" dirty="0"/>
              <a:t>: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opencv-python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numpy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pandas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scikit-learn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joblib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folium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branca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Matplotlib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Nginx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pyAv</a:t>
            </a:r>
            <a:endParaRPr lang="tr-TR" dirty="0"/>
          </a:p>
          <a:p>
            <a:r>
              <a:rPr lang="tr-TR" dirty="0"/>
              <a:t>    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3BA10C-600E-475C-AD27-CE44E474B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879C2-77FB-4A6A-A5E4-8B1F664DA43F}"/>
              </a:ext>
            </a:extLst>
          </p:cNvPr>
          <p:cNvSpPr txBox="1"/>
          <p:nvPr/>
        </p:nvSpPr>
        <p:spPr>
          <a:xfrm>
            <a:off x="1351301" y="2299308"/>
            <a:ext cx="332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Setup</a:t>
            </a:r>
            <a:r>
              <a:rPr lang="tr-TR" b="1" dirty="0"/>
              <a:t> &amp; </a:t>
            </a:r>
            <a:r>
              <a:rPr lang="tr-TR" b="1" dirty="0" err="1"/>
              <a:t>Requirements</a:t>
            </a:r>
            <a:endParaRPr lang="tr-T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1C82A-96E7-4D8F-A444-4DD2F387D40A}"/>
              </a:ext>
            </a:extLst>
          </p:cNvPr>
          <p:cNvSpPr txBox="1"/>
          <p:nvPr/>
        </p:nvSpPr>
        <p:spPr>
          <a:xfrm>
            <a:off x="7590034" y="-45196"/>
            <a:ext cx="332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Usage</a:t>
            </a:r>
            <a:endParaRPr lang="tr-TR" b="1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0DFAD25-426D-495E-A62D-B6E8BF79E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290" y="3290501"/>
            <a:ext cx="2354734" cy="13849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source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venv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/bin/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activate</a:t>
            </a:r>
            <a:r>
              <a:rPr kumimoji="0" lang="tr-TR" altLang="tr-TR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AA37EA44-F823-42E2-AB87-98C2C99ABD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16661" y="1256733"/>
            <a:ext cx="1752600" cy="13849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python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main.py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pipeline</a:t>
            </a:r>
            <a:r>
              <a:rPr kumimoji="0" lang="tr-TR" altLang="tr-TR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7D8E020-19D4-45A9-B82D-8228C2B03459}"/>
              </a:ext>
            </a:extLst>
          </p:cNvPr>
          <p:cNvGrpSpPr/>
          <p:nvPr/>
        </p:nvGrpSpPr>
        <p:grpSpPr>
          <a:xfrm>
            <a:off x="6454761" y="2172085"/>
            <a:ext cx="1752600" cy="2849566"/>
            <a:chOff x="6416661" y="2141007"/>
            <a:chExt cx="1752600" cy="2849566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72D378BD-3C70-423E-BA89-3E01D6CDD7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2141007"/>
              <a:ext cx="1752600" cy="1384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train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ABE2F162-D604-4BCA-87AC-1A952EF16B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2867706"/>
              <a:ext cx="1752600" cy="1384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extract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F8DDF7DA-6CA6-4B50-B42E-0EE5D94984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3594405"/>
              <a:ext cx="1752600" cy="1384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sync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79C27323-AC37-46D5-A02B-C2D1D0DD8A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4713574"/>
              <a:ext cx="1752600" cy="2769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map-flight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tr-TR" altLang="tr-TR" sz="900" dirty="0" err="1">
                  <a:solidFill>
                    <a:srgbClr val="F0F6FC"/>
                  </a:solidFill>
                  <a:latin typeface="Monaspace Neon"/>
                </a:rPr>
                <a:t>python</a:t>
              </a:r>
              <a:r>
                <a:rPr lang="tr-TR" altLang="tr-TR" sz="900" dirty="0">
                  <a:solidFill>
                    <a:srgbClr val="F0F6FC"/>
                  </a:solidFill>
                  <a:latin typeface="Monaspace Neon"/>
                </a:rPr>
                <a:t> main.py </a:t>
              </a:r>
              <a:r>
                <a:rPr lang="tr-TR" altLang="tr-TR" sz="900" dirty="0" err="1">
                  <a:solidFill>
                    <a:srgbClr val="F0F6FC"/>
                  </a:solidFill>
                  <a:latin typeface="Monaspace Neon"/>
                </a:rPr>
                <a:t>map-analytical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90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1A6D9F-53EE-8D48-A789-812D2BB06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45BFB0D2-3692-5C49-9C33-A1E8F58F56CC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/>
              <a:t>Model </a:t>
            </a:r>
            <a:r>
              <a:rPr lang="tr-TR" dirty="0" err="1"/>
              <a:t>Details</a:t>
            </a:r>
            <a:endParaRPr lang="de-DE" dirty="0"/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68274127-C5D8-2A48-8E28-8BB387ED9865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"/>
            </a:pPr>
            <a:r>
              <a:rPr lang="tr-TR" b="1" dirty="0" err="1"/>
              <a:t>Type</a:t>
            </a:r>
            <a:r>
              <a:rPr lang="tr-TR" b="1" dirty="0"/>
              <a:t>: </a:t>
            </a:r>
            <a:r>
              <a:rPr lang="tr-TR" dirty="0" err="1"/>
              <a:t>SGDClassifier</a:t>
            </a:r>
            <a:r>
              <a:rPr lang="tr-TR" dirty="0"/>
              <a:t> (</a:t>
            </a:r>
            <a:r>
              <a:rPr lang="tr-TR" dirty="0" err="1"/>
              <a:t>Stoachastic</a:t>
            </a:r>
            <a:r>
              <a:rPr lang="tr-TR" dirty="0"/>
              <a:t> 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Descent</a:t>
            </a:r>
            <a:r>
              <a:rPr lang="tr-TR" dirty="0"/>
              <a:t>)</a:t>
            </a:r>
            <a:endParaRPr lang="tr-TR" b="1" dirty="0"/>
          </a:p>
          <a:p>
            <a:r>
              <a:rPr lang="tr-TR" b="1" dirty="0" err="1"/>
              <a:t>Features</a:t>
            </a:r>
            <a:r>
              <a:rPr lang="tr-TR" b="1" dirty="0"/>
              <a:t>: </a:t>
            </a:r>
            <a:r>
              <a:rPr lang="tr-TR" dirty="0" err="1"/>
              <a:t>Pixel-level</a:t>
            </a:r>
            <a:r>
              <a:rPr lang="tr-TR" dirty="0"/>
              <a:t> </a:t>
            </a:r>
            <a:r>
              <a:rPr lang="tr-TR" dirty="0" err="1"/>
              <a:t>extraction</a:t>
            </a:r>
            <a:r>
              <a:rPr lang="tr-TR" dirty="0"/>
              <a:t> of:</a:t>
            </a:r>
          </a:p>
          <a:p>
            <a:pPr marL="914400" lvl="1" indent="-457200">
              <a:buFont typeface="Symbol" panose="05050102010706020507" pitchFamily="18" charset="2"/>
              <a:buChar char=""/>
            </a:pPr>
            <a:r>
              <a:rPr lang="tr-TR" sz="1500" dirty="0">
                <a:latin typeface="+mj-lt"/>
              </a:rPr>
              <a:t>VARI (</a:t>
            </a:r>
            <a:r>
              <a:rPr lang="tr-TR" sz="1500" dirty="0" err="1">
                <a:latin typeface="+mj-lt"/>
              </a:rPr>
              <a:t>Visible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Atmospherically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Resistant</a:t>
            </a:r>
            <a:r>
              <a:rPr lang="tr-TR" sz="1500" dirty="0">
                <a:latin typeface="+mj-lt"/>
              </a:rPr>
              <a:t> Index)</a:t>
            </a:r>
          </a:p>
          <a:p>
            <a:pPr marL="914400" lvl="1" indent="-457200">
              <a:buFont typeface="Symbol" panose="05050102010706020507" pitchFamily="18" charset="2"/>
              <a:buChar char=""/>
            </a:pPr>
            <a:r>
              <a:rPr lang="tr-TR" sz="1500" dirty="0" err="1">
                <a:latin typeface="+mj-lt"/>
              </a:rPr>
              <a:t>ExG</a:t>
            </a:r>
            <a:r>
              <a:rPr lang="tr-TR" sz="1500" dirty="0">
                <a:latin typeface="+mj-lt"/>
              </a:rPr>
              <a:t> (</a:t>
            </a:r>
            <a:r>
              <a:rPr lang="tr-TR" sz="1500" dirty="0" err="1">
                <a:latin typeface="+mj-lt"/>
              </a:rPr>
              <a:t>Excess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Green</a:t>
            </a:r>
            <a:r>
              <a:rPr lang="tr-TR" sz="1500" dirty="0">
                <a:latin typeface="+mj-lt"/>
              </a:rPr>
              <a:t>)</a:t>
            </a:r>
          </a:p>
          <a:p>
            <a:pPr marL="914400" lvl="1" indent="-457200">
              <a:buFont typeface="Symbol" panose="05050102010706020507" pitchFamily="18" charset="2"/>
              <a:buChar char=""/>
            </a:pPr>
            <a:r>
              <a:rPr lang="tr-TR" sz="1500" dirty="0">
                <a:latin typeface="+mj-lt"/>
              </a:rPr>
              <a:t>TGI (</a:t>
            </a:r>
            <a:r>
              <a:rPr lang="tr-TR" sz="1500" dirty="0" err="1">
                <a:latin typeface="+mj-lt"/>
              </a:rPr>
              <a:t>Triangular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Greenness</a:t>
            </a:r>
            <a:r>
              <a:rPr lang="tr-TR" sz="1500" dirty="0">
                <a:latin typeface="+mj-lt"/>
              </a:rPr>
              <a:t> Index)</a:t>
            </a:r>
          </a:p>
          <a:p>
            <a:r>
              <a:rPr lang="tr-TR" b="1" dirty="0"/>
              <a:t>Training Data: </a:t>
            </a:r>
            <a:r>
              <a:rPr lang="tr-TR" dirty="0"/>
              <a:t>Mixed </a:t>
            </a:r>
            <a:r>
              <a:rPr lang="tr-TR" dirty="0" err="1"/>
              <a:t>dataset</a:t>
            </a:r>
            <a:r>
              <a:rPr lang="tr-TR" dirty="0"/>
              <a:t> of PlantVillage (</a:t>
            </a:r>
            <a:r>
              <a:rPr lang="tr-TR" dirty="0" err="1"/>
              <a:t>labeled</a:t>
            </a:r>
            <a:r>
              <a:rPr lang="tr-TR" dirty="0"/>
              <a:t> </a:t>
            </a:r>
            <a:r>
              <a:rPr lang="tr-TR" dirty="0" err="1"/>
              <a:t>leaves</a:t>
            </a:r>
            <a:r>
              <a:rPr lang="tr-TR" dirty="0"/>
              <a:t>)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DatasetDrone</a:t>
            </a:r>
            <a:r>
              <a:rPr lang="tr-TR" dirty="0"/>
              <a:t> (</a:t>
            </a:r>
            <a:r>
              <a:rPr lang="tr-TR" dirty="0" err="1"/>
              <a:t>drıne</a:t>
            </a:r>
            <a:r>
              <a:rPr lang="tr-TR" dirty="0"/>
              <a:t> </a:t>
            </a:r>
            <a:r>
              <a:rPr lang="tr-TR" dirty="0" err="1"/>
              <a:t>frames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weak</a:t>
            </a:r>
            <a:r>
              <a:rPr lang="tr-TR" dirty="0"/>
              <a:t> </a:t>
            </a:r>
            <a:r>
              <a:rPr lang="tr-TR" dirty="0" err="1"/>
              <a:t>labeling</a:t>
            </a:r>
            <a:r>
              <a:rPr lang="tr-TR" dirty="0"/>
              <a:t>)</a:t>
            </a:r>
          </a:p>
          <a:p>
            <a:endParaRPr lang="tr-TR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2" name="Inhaltsplatzhalter 34"/>
          <p:cNvSpPr>
            <a:spLocks noGrp="1"/>
          </p:cNvSpPr>
          <p:nvPr>
            <p:ph sz="quarter" idx="13"/>
          </p:nvPr>
        </p:nvSpPr>
        <p:spPr>
          <a:xfrm>
            <a:off x="3661788" y="6422598"/>
            <a:ext cx="2872535" cy="204297"/>
          </a:xfrm>
        </p:spPr>
        <p:txBody>
          <a:bodyPr/>
          <a:lstStyle/>
          <a:p>
            <a:r>
              <a:rPr lang="de-DE" dirty="0"/>
              <a:t>*https://medium.com/@juanc.olamendy/sgdclassifier-the-powerhouse-for-large-scale-classification-9ae2369d57fb</a:t>
            </a:r>
            <a:endParaRPr lang="tr-T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08CC37-2857-4C2A-A71F-7B901EB5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6FA9553-016B-4F08-98A0-CCA1C2E85635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13" y="895221"/>
            <a:ext cx="4575175" cy="457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78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FFB4DB-3BDA-834B-B7FA-EA354B51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0E24C83F-C251-3344-9017-E486FF9236E6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 err="1"/>
              <a:t>Outputs</a:t>
            </a:r>
            <a:endParaRPr lang="de-DE" dirty="0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D9D17DCF-CFF5-724D-95F3-BF0084A4FEE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541460" y="1864215"/>
            <a:ext cx="4776072" cy="3602861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running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pipelinei</a:t>
            </a:r>
            <a:r>
              <a:rPr lang="tr-TR" dirty="0"/>
              <a:t> </a:t>
            </a:r>
            <a:r>
              <a:rPr lang="tr-TR" dirty="0" err="1"/>
              <a:t>find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maps</a:t>
            </a:r>
            <a:r>
              <a:rPr lang="tr-TR" dirty="0"/>
              <a:t> in </a:t>
            </a:r>
            <a:r>
              <a:rPr lang="tr-TR" b="1" i="1" dirty="0" err="1"/>
              <a:t>maps</a:t>
            </a:r>
            <a:r>
              <a:rPr lang="tr-TR" b="1" i="1" dirty="0"/>
              <a:t>/</a:t>
            </a:r>
            <a:r>
              <a:rPr lang="tr-T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i="1" dirty="0" err="1"/>
              <a:t>maps</a:t>
            </a:r>
            <a:r>
              <a:rPr lang="tr-TR" b="1" i="1" dirty="0"/>
              <a:t>/flight_map.html</a:t>
            </a:r>
            <a:r>
              <a:rPr lang="tr-TR" dirty="0"/>
              <a:t>: </a:t>
            </a:r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drone’s</a:t>
            </a:r>
            <a:r>
              <a:rPr lang="tr-TR" dirty="0"/>
              <a:t> </a:t>
            </a:r>
            <a:r>
              <a:rPr lang="tr-TR" dirty="0" err="1"/>
              <a:t>path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altitude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i="1" dirty="0" err="1"/>
              <a:t>maps</a:t>
            </a:r>
            <a:r>
              <a:rPr lang="tr-TR" b="1" i="1" dirty="0"/>
              <a:t>/analytical_map.html</a:t>
            </a:r>
            <a:r>
              <a:rPr lang="tr-TR" dirty="0"/>
              <a:t>: Interactive </a:t>
            </a:r>
            <a:r>
              <a:rPr lang="tr-TR" dirty="0" err="1"/>
              <a:t>Health</a:t>
            </a:r>
            <a:r>
              <a:rPr lang="tr-TR" dirty="0"/>
              <a:t> </a:t>
            </a:r>
            <a:r>
              <a:rPr lang="tr-TR" dirty="0" err="1"/>
              <a:t>Map</a:t>
            </a:r>
            <a:r>
              <a:rPr lang="tr-TR" dirty="0"/>
              <a:t> </a:t>
            </a:r>
            <a:r>
              <a:rPr lang="tr-TR" dirty="0" err="1"/>
              <a:t>containing</a:t>
            </a:r>
            <a:endParaRPr lang="tr-TR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Global </a:t>
            </a: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Heatmap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: 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Interpolated view of vegetation health (Green=Healthy, Red=Unhealthy</a:t>
            </a:r>
            <a:endParaRPr lang="tr-TR" sz="15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Per-</a:t>
            </a: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Track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Layers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:</a:t>
            </a:r>
            <a:b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r>
              <a:rPr lang="tr-TR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oggleable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layers for individual flights, showing heatmap, specific points, and flight paths.</a:t>
            </a:r>
            <a:endParaRPr lang="tr-TR" sz="15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Satellite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Base: </a:t>
            </a:r>
            <a:b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r>
              <a:rPr lang="tr-TR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Esri World </a:t>
            </a:r>
            <a:r>
              <a:rPr lang="tr-TR" sz="15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Imagery</a:t>
            </a:r>
            <a:r>
              <a:rPr lang="tr-TR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background.</a:t>
            </a:r>
            <a:endParaRPr lang="de-DE" sz="15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DEE243-FEF2-4454-8C8A-E8BDD33E2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2D818-567B-4212-98D0-7D1DEC077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469241"/>
            <a:ext cx="5537416" cy="366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0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CE01D-5672-48D5-9BF1-FD8CDF1BD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3B33D8-A41B-46DD-9C4D-5C6A1716D96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41215" y="1392373"/>
            <a:ext cx="5808561" cy="2772655"/>
          </a:xfrm>
        </p:spPr>
        <p:txBody>
          <a:bodyPr/>
          <a:lstStyle/>
          <a:p>
            <a:pPr marL="0" indent="0">
              <a:buNone/>
            </a:pPr>
            <a:r>
              <a:rPr lang="tr-TR" b="1" dirty="0" err="1"/>
              <a:t>System</a:t>
            </a:r>
            <a:r>
              <a:rPr lang="tr-TR" b="1" dirty="0"/>
              <a:t> Development &amp; </a:t>
            </a:r>
            <a:r>
              <a:rPr lang="tr-TR" b="1" dirty="0" err="1"/>
              <a:t>Implementation</a:t>
            </a:r>
            <a:endParaRPr lang="tr-TR" b="1" dirty="0"/>
          </a:p>
          <a:p>
            <a:r>
              <a:rPr lang="tr-TR" b="1" dirty="0"/>
              <a:t>Data </a:t>
            </a:r>
            <a:r>
              <a:rPr lang="tr-TR" b="1" dirty="0" err="1"/>
              <a:t>Processing</a:t>
            </a:r>
            <a:r>
              <a:rPr lang="tr-TR" b="1" dirty="0"/>
              <a:t> Engine: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 a </a:t>
            </a:r>
            <a:r>
              <a:rPr lang="tr-TR" dirty="0" err="1"/>
              <a:t>backend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b="1" dirty="0" err="1"/>
              <a:t>Python</a:t>
            </a:r>
            <a:r>
              <a:rPr lang="tr-TR" b="1" dirty="0"/>
              <a:t>, </a:t>
            </a:r>
            <a:r>
              <a:rPr lang="tr-TR" b="1" dirty="0" err="1"/>
              <a:t>OpenCV</a:t>
            </a:r>
            <a:r>
              <a:rPr lang="tr-TR" b="1" dirty="0"/>
              <a:t>,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NumPy</a:t>
            </a:r>
            <a:r>
              <a:rPr lang="tr-TR" b="1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automate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calculation</a:t>
            </a:r>
            <a:r>
              <a:rPr lang="tr-TR" dirty="0"/>
              <a:t> of </a:t>
            </a:r>
            <a:r>
              <a:rPr lang="tr-TR" dirty="0" err="1"/>
              <a:t>vegetation</a:t>
            </a:r>
            <a:r>
              <a:rPr lang="tr-TR" dirty="0"/>
              <a:t> </a:t>
            </a:r>
            <a:r>
              <a:rPr lang="tr-TR" dirty="0" err="1"/>
              <a:t>indices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raw</a:t>
            </a:r>
            <a:r>
              <a:rPr lang="tr-TR" dirty="0"/>
              <a:t> RGB </a:t>
            </a:r>
            <a:r>
              <a:rPr lang="tr-TR" dirty="0" err="1"/>
              <a:t>imagery</a:t>
            </a:r>
            <a:r>
              <a:rPr lang="tr-TR" dirty="0"/>
              <a:t>.</a:t>
            </a:r>
          </a:p>
          <a:p>
            <a:r>
              <a:rPr lang="tr-TR" b="1" dirty="0" err="1"/>
              <a:t>Geospatial</a:t>
            </a:r>
            <a:r>
              <a:rPr lang="tr-TR" b="1" dirty="0"/>
              <a:t> </a:t>
            </a:r>
            <a:r>
              <a:rPr lang="tr-TR" b="1" dirty="0" err="1"/>
              <a:t>Mapping</a:t>
            </a:r>
            <a:r>
              <a:rPr lang="tr-TR" b="1" dirty="0"/>
              <a:t>: </a:t>
            </a:r>
            <a:r>
              <a:rPr lang="tr-TR" dirty="0" err="1"/>
              <a:t>The</a:t>
            </a:r>
            <a:r>
              <a:rPr lang="tr-TR" dirty="0"/>
              <a:t> portal </a:t>
            </a:r>
            <a:r>
              <a:rPr lang="tr-TR" dirty="0" err="1"/>
              <a:t>uses</a:t>
            </a:r>
            <a:r>
              <a:rPr lang="tr-TR" dirty="0"/>
              <a:t> </a:t>
            </a:r>
            <a:r>
              <a:rPr lang="tr-TR" dirty="0" err="1"/>
              <a:t>Leaflet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OpenStreetMap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visualize</a:t>
            </a:r>
            <a:r>
              <a:rPr lang="tr-TR" dirty="0"/>
              <a:t> </a:t>
            </a:r>
            <a:r>
              <a:rPr lang="tr-TR" dirty="0" err="1"/>
              <a:t>flight</a:t>
            </a:r>
            <a:r>
              <a:rPr lang="tr-TR" dirty="0"/>
              <a:t> </a:t>
            </a:r>
            <a:r>
              <a:rPr lang="tr-TR" dirty="0" err="1"/>
              <a:t>paths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georeferenced</a:t>
            </a:r>
            <a:r>
              <a:rPr lang="tr-TR" dirty="0"/>
              <a:t> data </a:t>
            </a:r>
            <a:r>
              <a:rPr lang="tr-TR" dirty="0" err="1"/>
              <a:t>points</a:t>
            </a:r>
            <a:r>
              <a:rPr lang="tr-TR" dirty="0"/>
              <a:t> in </a:t>
            </a:r>
            <a:r>
              <a:rPr lang="tr-TR" dirty="0" err="1"/>
              <a:t>real</a:t>
            </a:r>
            <a:r>
              <a:rPr lang="tr-TR" dirty="0"/>
              <a:t>-time.</a:t>
            </a:r>
          </a:p>
          <a:p>
            <a:r>
              <a:rPr lang="tr-TR" b="1" dirty="0"/>
              <a:t>RGB-</a:t>
            </a:r>
            <a:r>
              <a:rPr lang="tr-TR" b="1" dirty="0" err="1"/>
              <a:t>Based</a:t>
            </a:r>
            <a:r>
              <a:rPr lang="tr-TR" b="1" dirty="0"/>
              <a:t> </a:t>
            </a:r>
            <a:r>
              <a:rPr lang="tr-TR" b="1" dirty="0" err="1"/>
              <a:t>Analytics</a:t>
            </a:r>
            <a:r>
              <a:rPr lang="tr-TR" b="1" dirty="0"/>
              <a:t>: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utilizing</a:t>
            </a:r>
            <a:r>
              <a:rPr lang="tr-TR" dirty="0"/>
              <a:t> </a:t>
            </a:r>
            <a:r>
              <a:rPr lang="tr-TR" dirty="0" err="1"/>
              <a:t>visible</a:t>
            </a:r>
            <a:r>
              <a:rPr lang="tr-TR" dirty="0"/>
              <a:t> </a:t>
            </a:r>
            <a:r>
              <a:rPr lang="tr-TR" dirty="0" err="1"/>
              <a:t>spectrum</a:t>
            </a:r>
            <a:r>
              <a:rPr lang="tr-TR" dirty="0"/>
              <a:t> </a:t>
            </a:r>
            <a:r>
              <a:rPr lang="tr-TR" dirty="0" err="1"/>
              <a:t>indices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VARI, </a:t>
            </a:r>
            <a:r>
              <a:rPr lang="tr-TR" dirty="0" err="1"/>
              <a:t>ExG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TGI,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eliminate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expensive</a:t>
            </a:r>
            <a:r>
              <a:rPr lang="tr-TR" dirty="0"/>
              <a:t> </a:t>
            </a:r>
            <a:r>
              <a:rPr lang="tr-TR" dirty="0" err="1"/>
              <a:t>multispectral</a:t>
            </a:r>
            <a:r>
              <a:rPr lang="tr-TR" dirty="0"/>
              <a:t> hardware</a:t>
            </a:r>
            <a:br>
              <a:rPr lang="tr-TR" dirty="0"/>
            </a:br>
            <a:br>
              <a:rPr lang="tr-TR" dirty="0"/>
            </a:br>
            <a:r>
              <a:rPr lang="en-US" b="1" dirty="0"/>
              <a:t>Operational Impact</a:t>
            </a:r>
            <a:endParaRPr lang="tr-TR" b="1" dirty="0"/>
          </a:p>
          <a:p>
            <a:r>
              <a:rPr lang="en-US" b="1" dirty="0"/>
              <a:t>Precision Agriculture: </a:t>
            </a:r>
            <a:r>
              <a:rPr lang="en-US" dirty="0"/>
              <a:t>Provides a low-cost, high-resolution health map to identify nutrient deficiencies or dehydration.</a:t>
            </a:r>
            <a:endParaRPr lang="tr-TR" dirty="0"/>
          </a:p>
          <a:p>
            <a:r>
              <a:rPr lang="en-US" b="1" dirty="0"/>
              <a:t>Targeted Action: </a:t>
            </a:r>
            <a:r>
              <a:rPr lang="en-US" dirty="0"/>
              <a:t>Enables farmers to perform targeted irrigation or fertilization based on spatial variations shown in the unhealthy (red) zones.</a:t>
            </a:r>
            <a:endParaRPr lang="tr-T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DA124-1655-4152-8D46-F2016A34B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12</a:t>
            </a:fld>
            <a:endParaRPr lang="de-DE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A7D3D8C-00B6-4940-B85A-F507FCCDDEA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772721" y="1887097"/>
            <a:ext cx="5200655" cy="271815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FDF8A-DBB7-4524-ACC1-83C44161AC3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64E18-A94B-4018-8398-D4F4178AE6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83EEB3-2BE8-4AA3-B274-63B89A327B7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0538" y="328601"/>
            <a:ext cx="5549914" cy="1082941"/>
          </a:xfrm>
        </p:spPr>
        <p:txBody>
          <a:bodyPr/>
          <a:lstStyle/>
          <a:p>
            <a:r>
              <a:rPr lang="tr-TR" dirty="0"/>
              <a:t>Web Portal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755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820CD3-B76B-468A-8F0F-03D9F0111F6E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2970847" y="2152580"/>
            <a:ext cx="6250305" cy="4576357"/>
          </a:xfrm>
        </p:spPr>
        <p:txBody>
          <a:bodyPr>
            <a:normAutofit/>
          </a:bodyPr>
          <a:lstStyle/>
          <a:p>
            <a:r>
              <a:rPr lang="en-US" b="1" dirty="0"/>
              <a:t>RTMP Protocol &amp; Connectivity</a:t>
            </a: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Intended Real-Time Stream: </a:t>
            </a:r>
            <a:r>
              <a:rPr lang="en-US" dirty="0"/>
              <a:t>The project originally aimed to use the RTMP (Real-Time Messaging Protocol) to broadcast live 4K video from the DJI Mini 4 Pro directly to a processing server.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Technical Constraints: </a:t>
            </a:r>
            <a:r>
              <a:rPr lang="en-US" dirty="0"/>
              <a:t>Due to latency and stability limitations in achieving 100% real-time autonomous processing, the workflow was optimized to prioritize data integrity through our Web Portal.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Bridge: </a:t>
            </a:r>
            <a:r>
              <a:rPr lang="en-US" dirty="0"/>
              <a:t>RTMP remains the primary protocol used to transfer captured video frames from the field to the ground station for rapid analysis.</a:t>
            </a:r>
            <a:endParaRPr lang="tr-TR" dirty="0"/>
          </a:p>
          <a:p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FBA1E9-B819-4E81-9230-57BC19B1C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36DA6-4F69-49C8-A3E6-C2C468DF50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85647" y="6404908"/>
            <a:ext cx="4188689" cy="204297"/>
          </a:xfrm>
        </p:spPr>
        <p:txBody>
          <a:bodyPr/>
          <a:lstStyle/>
          <a:p>
            <a:r>
              <a:rPr lang="tr-TR" dirty="0"/>
              <a:t>https://dl.djicdn.com/downloads/DJI_Mini_4_Pro/DJI_Mini_4_Pro_User_Manual_EN.pdf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7AAA5-DDAB-4D79-AB3C-8AA2D51076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9C3F7-59D1-4A6A-829D-6566C5E7B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3E2697-2B85-4E69-B1D5-5DEFEC884CBE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/>
              <a:t>RTMP</a:t>
            </a:r>
          </a:p>
        </p:txBody>
      </p:sp>
    </p:spTree>
    <p:extLst>
      <p:ext uri="{BB962C8B-B14F-4D97-AF65-F5344CB8AC3E}">
        <p14:creationId xmlns:p14="http://schemas.microsoft.com/office/powerpoint/2010/main" val="419473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97DFA9E-C35C-EE48-A4EB-58120E72A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1" name="Inhaltsplatzhalter 7">
            <a:extLst>
              <a:ext uri="{FF2B5EF4-FFF2-40B4-BE49-F238E27FC236}">
                <a16:creationId xmlns:a16="http://schemas.microsoft.com/office/drawing/2014/main" id="{B80A74C1-883C-B74E-ACF2-7C02E412813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796501" y="435401"/>
            <a:ext cx="5940102" cy="1082941"/>
          </a:xfrm>
        </p:spPr>
        <p:txBody>
          <a:bodyPr/>
          <a:lstStyle/>
          <a:p>
            <a:r>
              <a:rPr lang="de-DE" dirty="0"/>
              <a:t>Validation &amp;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99E4FA34-05F2-8742-B30F-E20E2579F56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796501" y="1033349"/>
            <a:ext cx="5940102" cy="351449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tr-TR" b="1" dirty="0"/>
              <a:t>Visual </a:t>
            </a:r>
            <a:r>
              <a:rPr lang="tr-TR" b="1" dirty="0" err="1"/>
              <a:t>Proof</a:t>
            </a:r>
            <a:r>
              <a:rPr lang="tr-TR" b="1" dirty="0"/>
              <a:t> (</a:t>
            </a:r>
            <a:r>
              <a:rPr lang="tr-TR" b="1" dirty="0" err="1"/>
              <a:t>Segmentation</a:t>
            </a:r>
            <a:r>
              <a:rPr lang="tr-TR" b="1" dirty="0"/>
              <a:t>)</a:t>
            </a:r>
            <a:br>
              <a:rPr lang="tr-TR" dirty="0"/>
            </a:br>
            <a:br>
              <a:rPr lang="tr-TR" dirty="0"/>
            </a:br>
            <a:r>
              <a:rPr lang="en-US" dirty="0"/>
              <a:t>The model successfully differentiates between healthy vegetation (Green) and non-vegetation/stressed areas (Red/Black), specifically ignoring dirt paths.</a:t>
            </a:r>
            <a:br>
              <a:rPr lang="tr-TR" dirty="0"/>
            </a:br>
            <a:br>
              <a:rPr lang="tr-TR" dirty="0"/>
            </a:b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b="1" dirty="0" err="1"/>
              <a:t>Quantitative</a:t>
            </a:r>
            <a:r>
              <a:rPr lang="tr-TR" b="1" dirty="0"/>
              <a:t> </a:t>
            </a:r>
            <a:r>
              <a:rPr lang="tr-TR" b="1" dirty="0" err="1"/>
              <a:t>Accuracy</a:t>
            </a:r>
            <a:endParaRPr lang="de-DE" b="1" dirty="0"/>
          </a:p>
          <a:p>
            <a:pPr marL="0" indent="0">
              <a:buNone/>
            </a:pPr>
            <a:r>
              <a:rPr lang="en-US" dirty="0"/>
              <a:t>Evaluated on 6,200 unseen images (Test Set)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8" name="Textplatzhalter 1">
            <a:extLst>
              <a:ext uri="{FF2B5EF4-FFF2-40B4-BE49-F238E27FC236}">
                <a16:creationId xmlns:a16="http://schemas.microsoft.com/office/drawing/2014/main" id="{AC614F7C-BA1E-F349-BEC4-0B6F1E3F76FC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82337" y="3299516"/>
            <a:ext cx="4147141" cy="89434"/>
          </a:xfrm>
        </p:spPr>
        <p:txBody>
          <a:bodyPr/>
          <a:lstStyle/>
          <a:p>
            <a:r>
              <a:rPr lang="en-US" dirty="0">
                <a:solidFill>
                  <a:srgbClr val="9198A1"/>
                </a:solidFill>
                <a:latin typeface="-apple-system"/>
              </a:rPr>
              <a:t>Figure: Left - Original Frame; Right - Health Mask Overlay.</a:t>
            </a:r>
            <a:endParaRPr lang="de-DE" dirty="0">
              <a:solidFill>
                <a:srgbClr val="9198A1"/>
              </a:solidFill>
              <a:latin typeface="-apple-system"/>
            </a:endParaRP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8E195375-27F1-494B-B4C1-C90FDD6935F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796501" y="5592200"/>
            <a:ext cx="5076154" cy="359536"/>
          </a:xfrm>
        </p:spPr>
        <p:txBody>
          <a:bodyPr/>
          <a:lstStyle/>
          <a:p>
            <a:r>
              <a:rPr lang="en-US" b="1" i="0" dirty="0">
                <a:solidFill>
                  <a:srgbClr val="9198A1"/>
                </a:solidFill>
                <a:effectLst/>
                <a:latin typeface="-apple-system"/>
              </a:rPr>
              <a:t>Note:</a:t>
            </a:r>
            <a:r>
              <a:rPr lang="en-US" b="0" i="0" dirty="0">
                <a:solidFill>
                  <a:srgbClr val="9198A1"/>
                </a:solidFill>
                <a:effectLst/>
                <a:latin typeface="-apple-system"/>
              </a:rPr>
              <a:t> Our model is </a:t>
            </a:r>
            <a:r>
              <a:rPr lang="en-US" dirty="0">
                <a:solidFill>
                  <a:srgbClr val="9198A1"/>
                </a:solidFill>
                <a:latin typeface="-apple-system"/>
              </a:rPr>
              <a:t>designed</a:t>
            </a:r>
            <a:r>
              <a:rPr lang="en-US" b="0" i="0" dirty="0">
                <a:solidFill>
                  <a:srgbClr val="9198A1"/>
                </a:solidFill>
                <a:effectLst/>
                <a:latin typeface="-apple-system"/>
              </a:rPr>
              <a:t> as a </a:t>
            </a:r>
            <a:r>
              <a:rPr lang="en-US" b="1" i="0" dirty="0">
                <a:solidFill>
                  <a:srgbClr val="9198A1"/>
                </a:solidFill>
                <a:effectLst/>
                <a:latin typeface="-apple-system"/>
              </a:rPr>
              <a:t>pessimistic detector</a:t>
            </a:r>
            <a:r>
              <a:rPr lang="en-US" b="0" i="0" dirty="0">
                <a:solidFill>
                  <a:srgbClr val="9198A1"/>
                </a:solidFill>
                <a:effectLst/>
                <a:latin typeface="-apple-system"/>
              </a:rPr>
              <a:t> (High Recall for Unhealthy), prioritizing the detection of potential issues over minimizing false alarms.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EF9ED-11EF-4215-8752-07BD58BD5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14</a:t>
            </a:fld>
            <a:endParaRPr lang="de-DE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B522300-0B7B-4704-A15A-7A3FD4385E8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838200" y="920562"/>
            <a:ext cx="4479117" cy="2382621"/>
          </a:xfrm>
          <a:prstGeom prst="rect">
            <a:avLst/>
          </a:prstGeom>
        </p:spPr>
      </p:pic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DD422054-638E-43CD-959E-9C570ED91A3A}"/>
              </a:ext>
            </a:extLst>
          </p:cNvPr>
          <p:cNvGraphicFramePr>
            <a:graphicFrameLocks noGrp="1"/>
          </p:cNvGraphicFramePr>
          <p:nvPr>
            <p:ph sz="quarter" idx="27"/>
            <p:extLst>
              <p:ext uri="{D42A27DB-BD31-4B8C-83A1-F6EECF244321}">
                <p14:modId xmlns:p14="http://schemas.microsoft.com/office/powerpoint/2010/main" val="3648833756"/>
              </p:ext>
            </p:extLst>
          </p:nvPr>
        </p:nvGraphicFramePr>
        <p:xfrm>
          <a:off x="5813954" y="3839301"/>
          <a:ext cx="5460598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4116">
                  <a:extLst>
                    <a:ext uri="{9D8B030D-6E8A-4147-A177-3AD203B41FA5}">
                      <a16:colId xmlns:a16="http://schemas.microsoft.com/office/drawing/2014/main" val="2990125149"/>
                    </a:ext>
                  </a:extLst>
                </a:gridCol>
                <a:gridCol w="1414116">
                  <a:extLst>
                    <a:ext uri="{9D8B030D-6E8A-4147-A177-3AD203B41FA5}">
                      <a16:colId xmlns:a16="http://schemas.microsoft.com/office/drawing/2014/main" val="4254847759"/>
                    </a:ext>
                  </a:extLst>
                </a:gridCol>
                <a:gridCol w="2632366">
                  <a:extLst>
                    <a:ext uri="{9D8B030D-6E8A-4147-A177-3AD203B41FA5}">
                      <a16:colId xmlns:a16="http://schemas.microsoft.com/office/drawing/2014/main" val="3526300015"/>
                    </a:ext>
                  </a:extLst>
                </a:gridCol>
              </a:tblGrid>
              <a:tr h="322989">
                <a:tc>
                  <a:txBody>
                    <a:bodyPr/>
                    <a:lstStyle/>
                    <a:p>
                      <a:r>
                        <a:rPr lang="tr-TR" dirty="0" err="1"/>
                        <a:t>Metric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Score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Note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526792"/>
                  </a:ext>
                </a:extLst>
              </a:tr>
              <a:tr h="614507">
                <a:tc>
                  <a:txBody>
                    <a:bodyPr/>
                    <a:lstStyle/>
                    <a:p>
                      <a:r>
                        <a:rPr lang="tr-TR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Accuracy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>
                          <a:effectLst/>
                        </a:rPr>
                        <a:t>83.1%</a:t>
                      </a:r>
                      <a:endParaRPr lang="tr-TR" dirty="0">
                        <a:effectLst/>
                      </a:endParaRPr>
                    </a:p>
                  </a:txBody>
                  <a:tcPr marL="61913" marR="61913" marT="28575" marB="28575"/>
                </a:tc>
                <a:tc>
                  <a:txBody>
                    <a:bodyPr/>
                    <a:lstStyle/>
                    <a:p>
                      <a:r>
                        <a:rPr lang="tr-T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Overall</a:t>
                      </a:r>
                      <a:r>
                        <a:rPr lang="tr-TR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tr-T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correct</a:t>
                      </a:r>
                      <a:r>
                        <a:rPr lang="tr-TR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tr-T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classification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494837"/>
                  </a:ext>
                </a:extLst>
              </a:tr>
              <a:tr h="614823">
                <a:tc>
                  <a:txBody>
                    <a:bodyPr/>
                    <a:lstStyle/>
                    <a:p>
                      <a:r>
                        <a:rPr lang="tr-TR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Disease</a:t>
                      </a:r>
                      <a:r>
                        <a:rPr lang="tr-TR" sz="1800" b="1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tr-TR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>
                          <a:solidFill>
                            <a:schemeClr val="dk1"/>
                          </a:solidFill>
                          <a:effectLst/>
                        </a:rPr>
                        <a:t>94.0%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Ability to detect unhealthy plants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961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74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41377BF-DC64-4442-933E-F8E49B028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20662FD-B3BA-444A-96BA-DB6502A4695E}"/>
              </a:ext>
            </a:extLst>
          </p:cNvPr>
          <p:cNvSpPr/>
          <p:nvPr/>
        </p:nvSpPr>
        <p:spPr>
          <a:xfrm>
            <a:off x="3454400" y="689744"/>
            <a:ext cx="1739900" cy="1063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0ABB92B7-9520-2D45-ADA2-66BFF3B8044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822550" y="26952"/>
            <a:ext cx="3144058" cy="1003563"/>
          </a:xfrm>
        </p:spPr>
        <p:txBody>
          <a:bodyPr/>
          <a:lstStyle/>
          <a:p>
            <a:r>
              <a:rPr lang="de-DE" dirty="0" err="1"/>
              <a:t>Contributors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63943-2B34-4551-9A67-EC54B3782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15</a:t>
            </a:fld>
            <a:endParaRPr lang="de-DE" dirty="0"/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C53F7956-7DAA-4B69-9432-52088209190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48841235"/>
              </p:ext>
            </p:extLst>
          </p:nvPr>
        </p:nvGraphicFramePr>
        <p:xfrm>
          <a:off x="1019369" y="528734"/>
          <a:ext cx="10153262" cy="589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010">
                  <a:extLst>
                    <a:ext uri="{9D8B030D-6E8A-4147-A177-3AD203B41FA5}">
                      <a16:colId xmlns:a16="http://schemas.microsoft.com/office/drawing/2014/main" val="2368308477"/>
                    </a:ext>
                  </a:extLst>
                </a:gridCol>
                <a:gridCol w="3450330">
                  <a:extLst>
                    <a:ext uri="{9D8B030D-6E8A-4147-A177-3AD203B41FA5}">
                      <a16:colId xmlns:a16="http://schemas.microsoft.com/office/drawing/2014/main" val="1366763497"/>
                    </a:ext>
                  </a:extLst>
                </a:gridCol>
                <a:gridCol w="5218922">
                  <a:extLst>
                    <a:ext uri="{9D8B030D-6E8A-4147-A177-3AD203B41FA5}">
                      <a16:colId xmlns:a16="http://schemas.microsoft.com/office/drawing/2014/main" val="3605824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dirty="0" err="1"/>
                        <a:t>Member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Key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technical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Contribution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083533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Matheus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Lead</a:t>
                      </a:r>
                      <a:r>
                        <a:rPr lang="tr-TR" dirty="0"/>
                        <a:t>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Pipeline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Architecture,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Sync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Scripts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821344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Zihad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Mapping</a:t>
                      </a:r>
                      <a:r>
                        <a:rPr lang="tr-TR" dirty="0"/>
                        <a:t> (</a:t>
                      </a:r>
                      <a:r>
                        <a:rPr lang="tr-TR" dirty="0" err="1"/>
                        <a:t>Fronted</a:t>
                      </a:r>
                      <a:r>
                        <a:rPr lang="tr-TR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Leaflet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Folium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UX/UI,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CSS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19207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/>
                        <a:t>Berkay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Mapping</a:t>
                      </a:r>
                      <a:r>
                        <a:rPr lang="tr-TR" dirty="0"/>
                        <a:t> (</a:t>
                      </a:r>
                      <a:r>
                        <a:rPr lang="tr-TR" dirty="0" err="1"/>
                        <a:t>Backend</a:t>
                      </a:r>
                      <a:r>
                        <a:rPr lang="tr-TR" dirty="0"/>
                        <a:t>) &amp; </a:t>
                      </a:r>
                      <a:r>
                        <a:rPr lang="tr-TR" dirty="0" err="1"/>
                        <a:t>Drone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Usage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Leader</a:t>
                      </a:r>
                      <a:r>
                        <a:rPr lang="tr-TR" dirty="0"/>
                        <a:t> &amp; General </a:t>
                      </a:r>
                      <a:r>
                        <a:rPr lang="tr-TR" dirty="0" err="1"/>
                        <a:t>Debugger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IDW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Interpolation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Scale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07926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Yevhenii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Streaming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RTMP Architecture Design, Latency Profiling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061885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/>
                        <a:t>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Hardware/</a:t>
                      </a:r>
                      <a:r>
                        <a:rPr lang="tr-TR" dirty="0" err="1"/>
                        <a:t>Ops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GPU Environment, Video Link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55213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/>
                        <a:t>Roma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QA/</a:t>
                      </a:r>
                      <a:r>
                        <a:rPr lang="tr-TR" dirty="0" err="1"/>
                        <a:t>Testing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System Robustness Testing, Demo Recording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4112197174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Abhishek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ML </a:t>
                      </a:r>
                      <a:r>
                        <a:rPr lang="tr-TR" dirty="0" err="1"/>
                        <a:t>Optimization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SGDClassifier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Hyperparameters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Model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Explainability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886867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Aditya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Data </a:t>
                      </a:r>
                      <a:r>
                        <a:rPr lang="tr-TR" dirty="0" err="1"/>
                        <a:t>Engineering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Normalization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Pipelines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845242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Aseem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Analytics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Analysis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6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59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haltsplatzhalter 15"/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6856975" y="-297"/>
            <a:ext cx="5334462" cy="6858594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FA309C6-C56C-E144-9A4B-8B47DBB8852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60672" y="4856742"/>
            <a:ext cx="5335647" cy="1973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500" dirty="0">
                <a:latin typeface="+mj-lt"/>
              </a:rPr>
              <a:t>95028 Hof</a:t>
            </a:r>
          </a:p>
          <a:p>
            <a:pPr lvl="0">
              <a:lnSpc>
                <a:spcPct val="110000"/>
              </a:lnSpc>
            </a:pPr>
            <a:r>
              <a:rPr lang="de-DE" sz="1500" dirty="0">
                <a:latin typeface="+mj-lt"/>
              </a:rPr>
              <a:t>Alfons-Goppel-Platz 1</a:t>
            </a:r>
            <a:br>
              <a:rPr lang="de-DE" sz="1500" dirty="0">
                <a:latin typeface="+mj-lt"/>
              </a:rPr>
            </a:br>
            <a:r>
              <a:rPr lang="de-DE" sz="1500" b="0" dirty="0">
                <a:latin typeface="+mj-lt"/>
              </a:rPr>
              <a:t>Phone +49 </a:t>
            </a:r>
            <a:r>
              <a:rPr lang="tr-TR" sz="1500" b="0" dirty="0">
                <a:latin typeface="+mj-lt"/>
              </a:rPr>
              <a:t>1522</a:t>
            </a:r>
            <a:r>
              <a:rPr lang="de-DE" sz="1500" b="0" dirty="0">
                <a:latin typeface="+mj-lt"/>
              </a:rPr>
              <a:t> </a:t>
            </a:r>
            <a:r>
              <a:rPr lang="tr-TR" sz="1500" b="0" dirty="0">
                <a:latin typeface="+mj-lt"/>
              </a:rPr>
              <a:t>399</a:t>
            </a:r>
            <a:r>
              <a:rPr lang="de-DE" sz="1500" b="0" dirty="0">
                <a:latin typeface="+mj-lt"/>
              </a:rPr>
              <a:t>-</a:t>
            </a:r>
            <a:r>
              <a:rPr lang="tr-TR" sz="1500" b="0" dirty="0">
                <a:latin typeface="+mj-lt"/>
              </a:rPr>
              <a:t>0183</a:t>
            </a:r>
            <a:endParaRPr lang="de-DE" sz="1500" b="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500" dirty="0" err="1">
                <a:latin typeface="+mj-lt"/>
              </a:rPr>
              <a:t>bgoek</a:t>
            </a:r>
            <a:r>
              <a:rPr lang="de-DE" sz="1500" dirty="0">
                <a:latin typeface="+mj-lt"/>
              </a:rPr>
              <a:t>@hof-university.de</a:t>
            </a:r>
            <a:br>
              <a:rPr lang="de-DE" sz="1500" dirty="0">
                <a:latin typeface="+mj-lt"/>
              </a:rPr>
            </a:br>
            <a:r>
              <a:rPr lang="de-DE" sz="1500" b="1" dirty="0">
                <a:latin typeface="+mj-lt"/>
              </a:rPr>
              <a:t>www.hof-university.de</a:t>
            </a:r>
            <a:endParaRPr lang="de-DE" sz="150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67C60-D2AC-4712-ADF0-32B99F665C5B}"/>
              </a:ext>
            </a:extLst>
          </p:cNvPr>
          <p:cNvSpPr/>
          <p:nvPr/>
        </p:nvSpPr>
        <p:spPr>
          <a:xfrm>
            <a:off x="-822565" y="2551837"/>
            <a:ext cx="619059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The</a:t>
            </a:r>
            <a:r>
              <a:rPr lang="tr-TR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 </a:t>
            </a:r>
            <a:r>
              <a:rPr lang="tr-TR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End</a:t>
            </a:r>
            <a:endParaRPr lang="tr-TR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  <a:reflection blurRad="6350" stA="50000" endA="300" endPos="50000" dist="60007" dir="5400000" sy="-100000" algn="bl" rotWithShape="0"/>
              </a:effectLst>
            </a:endParaRPr>
          </a:p>
          <a:p>
            <a:pPr algn="ctr"/>
            <a:endParaRPr lang="en-US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  <a:reflection blurRad="6350" stA="50000" endA="300" endPos="5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982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Hochschule Hof Masterfolien mit eigenen Bildern">
  <a:themeElements>
    <a:clrScheme name="Hochschule Hof Farbe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3E50"/>
      </a:accent1>
      <a:accent2>
        <a:srgbClr val="0BDA7D"/>
      </a:accent2>
      <a:accent3>
        <a:srgbClr val="2962FA"/>
      </a:accent3>
      <a:accent4>
        <a:srgbClr val="FECE00"/>
      </a:accent4>
      <a:accent5>
        <a:srgbClr val="FBFCFB"/>
      </a:accent5>
      <a:accent6>
        <a:srgbClr val="FEFFFE"/>
      </a:accent6>
      <a:hlink>
        <a:srgbClr val="000000"/>
      </a:hlink>
      <a:folHlink>
        <a:srgbClr val="000000"/>
      </a:folHlink>
    </a:clrScheme>
    <a:fontScheme name="Hochschule Hof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H_PowerPoint_Mastervorlage_2024_Vorlesungs_Mastervorlage  -  Schreibgeschützt" id="{AB44CB02-EAE2-4A9F-9D20-0C053C60297D}" vid="{BCB5122C-2D16-49B8-AF39-74A68DF7E1B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58DC9B-1839-453F-9559-FC60C7492249}">
  <we:reference id="wa104380862" version="3.0.0.0" store="en-US" storeType="OMEX"/>
  <we:alternateReferences>
    <we:reference id="wa104380862" version="3.0.0.0" store="WA10438086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55F4250AEECF4BB38D9DAA2AEC9A51" ma:contentTypeVersion="5" ma:contentTypeDescription="Ein neues Dokument erstellen." ma:contentTypeScope="" ma:versionID="7182b4836a7d2df9d18769b57da538fc">
  <xsd:schema xmlns:xsd="http://www.w3.org/2001/XMLSchema" xmlns:xs="http://www.w3.org/2001/XMLSchema" xmlns:p="http://schemas.microsoft.com/office/2006/metadata/properties" xmlns:ns2="afc3b429-34c2-408b-b822-e37fdfc5cf7c" targetNamespace="http://schemas.microsoft.com/office/2006/metadata/properties" ma:root="true" ma:fieldsID="b5f7f11330ff7f225bde7ea028684796" ns2:_="">
    <xsd:import namespace="afc3b429-34c2-408b-b822-e37fdfc5cf7c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3b429-34c2-408b-b822-e37fdfc5cf7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6CECAD-7997-42D6-BCB2-4C95F3A613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c3b429-34c2-408b-b822-e37fdfc5cf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6731F1-E162-482F-B833-8C32081F0D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D4E7F3-DBFE-4757-99A3-4594217979E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fc3b429-34c2-408b-b822-e37fdfc5cf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HH_PowerPoint_Mastervorlage_2024_Vorlesungs_Mastervorlage</Template>
  <TotalTime>400</TotalTime>
  <Words>1380</Words>
  <Application>Microsoft Office PowerPoint</Application>
  <PresentationFormat>Widescreen</PresentationFormat>
  <Paragraphs>264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Aptos</vt:lpstr>
      <vt:lpstr>Sora Light</vt:lpstr>
      <vt:lpstr>Calibri</vt:lpstr>
      <vt:lpstr>Source Sans Pro</vt:lpstr>
      <vt:lpstr>Source Sans Pro Light</vt:lpstr>
      <vt:lpstr>Monaspace Neon</vt:lpstr>
      <vt:lpstr>Courier New</vt:lpstr>
      <vt:lpstr>Arial</vt:lpstr>
      <vt:lpstr>Symbol</vt:lpstr>
      <vt:lpstr>-apple-system</vt:lpstr>
      <vt:lpstr>Wingdings</vt:lpstr>
      <vt:lpstr>Hochschule Hof Masterfolien mit eigenen Bildern</vt:lpstr>
      <vt:lpstr>PowerPoint Presentation</vt:lpstr>
      <vt:lpstr>PowerPoint Presentation</vt:lpstr>
      <vt:lpstr>PowerPoint Presentation</vt:lpstr>
      <vt:lpstr>PowerPoint Presentation</vt:lpstr>
      <vt:lpstr>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Yoga User</dc:creator>
  <cp:lastModifiedBy>Yoga User</cp:lastModifiedBy>
  <cp:revision>31</cp:revision>
  <cp:lastPrinted>2021-02-15T13:52:03Z</cp:lastPrinted>
  <dcterms:created xsi:type="dcterms:W3CDTF">2026-01-09T13:54:40Z</dcterms:created>
  <dcterms:modified xsi:type="dcterms:W3CDTF">2026-01-22T15:48:22Z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0x0101009D55F4250AEECF4BB38D9DAA2AEC9A51</vt:lpwstr>
  </property>
</Properties>
</file>